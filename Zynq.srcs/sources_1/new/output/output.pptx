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a6d4114cb24179" /><Relationship Type="http://schemas.openxmlformats.org/officeDocument/2006/relationships/extended-properties" Target="/docProps/app.xml" Id="Rf92558d86d854f7c" /><Relationship Type="http://schemas.openxmlformats.org/officeDocument/2006/relationships/officeDocument" Target="/ppt/presentation.xml" Id="R01fe1c6a3c2543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5e0fe2316a4c84"/>
  </p:sldMasterIdLst>
  <p:notesMasterIdLst>
    <p:notesMasterId xmlns:r="http://schemas.openxmlformats.org/officeDocument/2006/relationships" r:id="Rc114174ecef142c9"/>
  </p:notesMasterIdLst>
  <p:sldIdLst>
    <p:sldId xmlns:r="http://schemas.openxmlformats.org/officeDocument/2006/relationships" id="256" r:id="R4093794a61f04347"/>
    <p:sldId xmlns:r="http://schemas.openxmlformats.org/officeDocument/2006/relationships" id="257" r:id="Rfff2c05eb1ee4376"/>
    <p:sldId xmlns:r="http://schemas.openxmlformats.org/officeDocument/2006/relationships" id="258" r:id="R69d9b7099e6e46b5"/>
    <p:sldId xmlns:r="http://schemas.openxmlformats.org/officeDocument/2006/relationships" id="259" r:id="R894f7f3353ad4954"/>
    <p:sldId xmlns:r="http://schemas.openxmlformats.org/officeDocument/2006/relationships" id="260" r:id="Rcf9c11bda5fb459f"/>
    <p:sldId xmlns:r="http://schemas.openxmlformats.org/officeDocument/2006/relationships" id="261" r:id="R57cf9d8cb5674b76"/>
    <p:sldId xmlns:r="http://schemas.openxmlformats.org/officeDocument/2006/relationships" id="262" r:id="R9bb96c7dda144e23"/>
    <p:sldId xmlns:r="http://schemas.openxmlformats.org/officeDocument/2006/relationships" id="263" r:id="R6802484c3a5f4e36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5e0fe2316a4c84" /><Relationship Type="http://schemas.openxmlformats.org/officeDocument/2006/relationships/theme" Target="/ppt/theme/theme1.xml" Id="Rbb6ff6068dff490b" /><Relationship Type="http://schemas.openxmlformats.org/officeDocument/2006/relationships/notesMaster" Target="/ppt/notesMasters/notesMaster1.xml" Id="Rc114174ecef142c9" /><Relationship Type="http://schemas.openxmlformats.org/officeDocument/2006/relationships/presProps" Target="/ppt/presProps.xml" Id="Rf0f0358fc1384a88" /><Relationship Type="http://schemas.openxmlformats.org/officeDocument/2006/relationships/viewProps" Target="/ppt/viewProps.xml" Id="Ra9facbbc5e4d41e4" /><Relationship Type="http://schemas.openxmlformats.org/officeDocument/2006/relationships/tableStyles" Target="/ppt/tableStyles.xml" Id="R1f00b5e76f5b4655" /><Relationship Type="http://schemas.openxmlformats.org/officeDocument/2006/relationships/slide" Target="/ppt/slides/slide1.xml" Id="R4093794a61f04347" /><Relationship Type="http://schemas.openxmlformats.org/officeDocument/2006/relationships/slide" Target="/ppt/slides/slide2.xml" Id="Rfff2c05eb1ee4376" /><Relationship Type="http://schemas.openxmlformats.org/officeDocument/2006/relationships/slide" Target="/ppt/slides/slide3.xml" Id="R69d9b7099e6e46b5" /><Relationship Type="http://schemas.openxmlformats.org/officeDocument/2006/relationships/slide" Target="/ppt/slides/slide4.xml" Id="R894f7f3353ad4954" /><Relationship Type="http://schemas.openxmlformats.org/officeDocument/2006/relationships/slide" Target="/ppt/slides/slide5.xml" Id="Rcf9c11bda5fb459f" /><Relationship Type="http://schemas.openxmlformats.org/officeDocument/2006/relationships/slide" Target="/ppt/slides/slide6.xml" Id="R57cf9d8cb5674b76" /><Relationship Type="http://schemas.openxmlformats.org/officeDocument/2006/relationships/slide" Target="/ppt/slides/slide7.xml" Id="R9bb96c7dda144e23" /><Relationship Type="http://schemas.openxmlformats.org/officeDocument/2006/relationships/slide" Target="/ppt/slides/slide8.xml" Id="R6802484c3a5f4e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348268f011c48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bdd68f05ea4dc2" /><Relationship Type="http://schemas.openxmlformats.org/officeDocument/2006/relationships/notesMaster" Target="/ppt/notesMasters/notesMaster1.xml" Id="Rc4eb55e80af04c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3539c09d494b94" /><Relationship Type="http://schemas.openxmlformats.org/officeDocument/2006/relationships/notesMaster" Target="/ppt/notesMasters/notesMaster1.xml" Id="Rb700aa913be043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97a6788d83437a" /><Relationship Type="http://schemas.openxmlformats.org/officeDocument/2006/relationships/notesMaster" Target="/ppt/notesMasters/notesMaster1.xml" Id="R0f3881ebe5334e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e9d0d992204bd5" /><Relationship Type="http://schemas.openxmlformats.org/officeDocument/2006/relationships/notesMaster" Target="/ppt/notesMasters/notesMaster1.xml" Id="R109ad7cc2eab40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fddfd329364cba" /><Relationship Type="http://schemas.openxmlformats.org/officeDocument/2006/relationships/notesMaster" Target="/ppt/notesMasters/notesMaster1.xml" Id="R60aa0a4862b046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fc748198e74551" /><Relationship Type="http://schemas.openxmlformats.org/officeDocument/2006/relationships/notesMaster" Target="/ppt/notesMasters/notesMaster1.xml" Id="Rf830f300c88a4cc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57fb5652334e24" /><Relationship Type="http://schemas.openxmlformats.org/officeDocument/2006/relationships/notesMaster" Target="/ppt/notesMasters/notesMaster1.xml" Id="Rb7a3d12d89ad4c9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f4ce3b9ffa3483d" /><Relationship Type="http://schemas.openxmlformats.org/officeDocument/2006/relationships/notesMaster" Target="/ppt/notesMasters/notesMaster1.xml" Id="R45a376f93aea4a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476c21cec241d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9ea142b6b024995" /><Relationship Type="http://schemas.openxmlformats.org/officeDocument/2006/relationships/slideLayout" Target="/ppt/slideLayouts/slideLayout2.xml" Id="R7613d8fd0f0749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13d8fd0f0749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bfa42e941e4e9b" /><Relationship Type="http://schemas.openxmlformats.org/officeDocument/2006/relationships/notesSlide" Target="/ppt/notesSlides/notesSlide1.xml" Id="Rde46176b66d147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196847e0254b2e" /><Relationship Type="http://schemas.openxmlformats.org/officeDocument/2006/relationships/notesSlide" Target="/ppt/notesSlides/notesSlide2.xml" Id="Rd826d433ec684e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beb87fd74f40e4" /><Relationship Type="http://schemas.openxmlformats.org/officeDocument/2006/relationships/notesSlide" Target="/ppt/notesSlides/notesSlide3.xml" Id="Rf5b6dc2de0a24d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10bbfaf54d403e" /><Relationship Type="http://schemas.openxmlformats.org/officeDocument/2006/relationships/notesSlide" Target="/ppt/notesSlides/notesSlide4.xml" Id="Re224050c13d643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983a737b57482d" /><Relationship Type="http://schemas.openxmlformats.org/officeDocument/2006/relationships/notesSlide" Target="/ppt/notesSlides/notesSlide5.xml" Id="R01cd07a6939946e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1f5e162a4243c5" /><Relationship Type="http://schemas.openxmlformats.org/officeDocument/2006/relationships/notesSlide" Target="/ppt/notesSlides/notesSlide6.xml" Id="R1b2ca078350643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818e724d164090" /><Relationship Type="http://schemas.openxmlformats.org/officeDocument/2006/relationships/notesSlide" Target="/ppt/notesSlides/notesSlide7.xml" Id="R2d1e6759f3c24bb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e946db93a146ca" /><Relationship Type="http://schemas.openxmlformats.org/officeDocument/2006/relationships/notesSlide" Target="/ppt/notesSlides/notesSlide8.xml" Id="Rcb58b8b3b0a64cd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06E274-856F-45FD-8844-49C03311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6"/>
          </a:solidFill>
          <a:ln xmlns:a="http://schemas.openxmlformats.org/drawingml/2006/main" w="0">
            <a:solidFill>
              <a:srgbClr val="F5F0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6D524D-1FFF-4651-81AE-E97EA0FA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0EC"/>
          </a:solidFill>
          <a:ln xmlns:a="http://schemas.openxmlformats.org/drawingml/2006/main" w="0">
            <a:solidFill>
              <a:srgbClr val="D9F0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8F0022-B238-4CED-B04E-3650B176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0"/>
            <a:ext cx="150876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6"/>
          </a:solidFill>
          <a:ln xmlns:a="http://schemas.openxmlformats.org/drawingml/2006/main" w="0">
            <a:solidFill>
              <a:srgbClr val="F5F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C23ABE-E12A-4C6E-B392-BB0AC793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76300"/>
            <a:ext cx="1329214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76D8EC-9D38-4807-B286-B1071787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71550"/>
            <a:ext cx="990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RTL deep dive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A9FBD-52BF-4433-B5BD-F5E285E9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1264" y="876300"/>
            <a:ext cx="1359027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E3D1"/>
          </a:solidFill>
          <a:ln xmlns:a="http://schemas.openxmlformats.org/drawingml/2006/main" w="0">
            <a:solidFill>
              <a:srgbClr val="F6E3D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7B62C6-6D37-4197-A76F-96662897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71550"/>
            <a:ext cx="1009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33"/>
                </a:solidFill>
              </a:defRPr>
            </a:pPr>
            <a:r>
              <a:rPr sz="1350" b="1">
                <a:solidFill>
                  <a:srgbClr val="142033"/>
                </a:solidFill>
              </a:rPr>
              <a:t>Academic viva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4460E6-E4FA-4710-881D-403C1D7E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09700"/>
            <a:ext cx="4591050" cy="186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350" b="1">
                <a:solidFill>
                  <a:srgbClr val="142033"/>
                </a:solidFill>
              </a:defRPr>
            </a:pPr>
            <a:r>
              <a:rPr sz="7350" b="1">
                <a:solidFill>
                  <a:srgbClr val="142033"/>
                </a:solidFill>
              </a:rPr>
              <a:t>DW module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D5FA6F-541E-4322-8C17-67B1CA19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48050"/>
            <a:ext cx="54483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766E"/>
                </a:solidFill>
              </a:defRPr>
            </a:pPr>
            <a:r>
              <a:rPr sz="2250" b="1">
                <a:solidFill>
                  <a:srgbClr val="0F766E"/>
                </a:solidFill>
              </a:rPr>
              <a:t>Depthwise wrapper plus shared compute 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592039-7FA0-4B84-886B-4534CBA3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34350"/>
            <a:ext cx="61531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250">
                <a:solidFill>
                  <a:srgbClr val="5C6777"/>
                </a:solidFill>
              </a:defRPr>
            </a:pPr>
            <a:r>
              <a:rPr sz="2250">
                <a:solidFill>
                  <a:srgbClr val="5C6777"/>
                </a:solidFill>
              </a:rPr>
              <a:t>How the depthwise path streams pixels, creates 3x3 windows, accumulates MACs, and only finishes when the last AXI output beat is accepted.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B0BBBD-D4E0-4AC0-B974-82E9CDFC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277350"/>
            <a:ext cx="6667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C6777"/>
                </a:solidFill>
              </a:defRPr>
            </a:pPr>
            <a:r>
              <a:rPr sz="1125">
                <a:solidFill>
                  <a:srgbClr val="5C6777"/>
                </a:solidFill>
              </a:rPr>
              <a:t>RTL anchors: dw_plane_run_axis.sv, compute_engine.sv, line_buffer.sv, conv_mac_array.sv, ppu.sv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4A12CE-970F-45E4-A448-004CF6E0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9144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6"/>
          </a:solidFill>
          <a:ln xmlns:a="http://schemas.openxmlformats.org/drawingml/2006/main" w="0">
            <a:solidFill>
              <a:srgbClr val="F5F0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724D80-E1FF-421D-979F-42B2AEE6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13915"/>
            <a:ext cx="7239000" cy="1708309"/>
          </a:xfrm>
          <a:prstGeom xmlns:a="http://schemas.openxmlformats.org/drawingml/2006/main" prst="roundRect">
            <a:avLst>
              <a:gd name="adj" fmla="val 6691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E6E0E6-0B06-4D8A-BDA4-E458C80E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71900"/>
            <a:ext cx="6705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766E"/>
                </a:solidFill>
              </a:defRPr>
            </a:pPr>
            <a:r>
              <a:rPr sz="2100" b="1">
                <a:solidFill>
                  <a:srgbClr val="0F766E"/>
                </a:solidFill>
              </a:rPr>
              <a:t>Cover thesis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268702-41FC-46AB-81D8-94838B6C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191000"/>
            <a:ext cx="67056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725">
                <a:solidFill>
                  <a:srgbClr val="142033"/>
                </a:solidFill>
              </a:defRPr>
            </a:pPr>
            <a:r>
              <a:rPr sz="1725">
                <a:solidFill>
                  <a:srgbClr val="142033"/>
                </a:solidFill>
              </a:rPr>
              <a:t>dw_plane_run_axis is the shell that makes the accelerator behave like a stream endpoint. The real arithmetic path is inside compute_engine, which this shell locks into depthwise mode.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D4A962-5AFC-4C1E-9F52-D69F7270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7850315"/>
            <a:ext cx="7239000" cy="1560386"/>
          </a:xfrm>
          <a:prstGeom xmlns:a="http://schemas.openxmlformats.org/drawingml/2006/main" prst="roundRect">
            <a:avLst>
              <a:gd name="adj" fmla="val 7325"/>
            </a:avLst>
          </a:prstGeom>
          <a:solidFill xmlns:a="http://schemas.openxmlformats.org/drawingml/2006/main">
            <a:srgbClr val="F6E3D1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C60349-CF9D-4C90-A298-622D1ED67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8115300"/>
            <a:ext cx="6705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6B1B"/>
                </a:solidFill>
              </a:defRPr>
            </a:pPr>
            <a:r>
              <a:rPr sz="1800" b="1">
                <a:solidFill>
                  <a:srgbClr val="C96B1B"/>
                </a:solidFill>
              </a:rPr>
              <a:t>Presentation promise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544A92-E0E1-43A5-A42A-2C46B7AF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8458200"/>
            <a:ext cx="67056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575">
                <a:solidFill>
                  <a:srgbClr val="142033"/>
                </a:solidFill>
              </a:defRPr>
            </a:pPr>
            <a:r>
              <a:rPr sz="1575">
                <a:solidFill>
                  <a:srgbClr val="142033"/>
                </a:solidFill>
              </a:rPr>
              <a:t>We will follow one pixel from AXI ingress to AXI egress, showing exactly where buffering, window legality, MAC validity, quantization, TLAST, and external completion are decided.</a:t>
            </a:r>
          </a:p>
        </p:txBody>
      </p:sp>
    </p:spTree>
    <p:extLst>
      <p:ext uri="{BB962C8B-B14F-4D97-AF65-F5344CB8AC3E}">
        <p14:creationId xmlns:p14="http://schemas.microsoft.com/office/powerpoint/2010/main" val="15816462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DF5590-8CA4-42B2-96B2-839964EB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6"/>
          </a:solidFill>
          <a:ln xmlns:a="http://schemas.openxmlformats.org/drawingml/2006/main" w="0">
            <a:solidFill>
              <a:srgbClr val="F5F0E6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AF3FAF-7370-48DD-9F11-AB403380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85800"/>
            <a:ext cx="148399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033"/>
                </a:solidFill>
              </a:defRPr>
            </a:pPr>
            <a:r>
              <a:rPr sz="3600" b="1">
                <a:solidFill>
                  <a:srgbClr val="142033"/>
                </a:solidFill>
              </a:rPr>
              <a:t>DW datapath in one glance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98ABB71-479C-408D-9E40-B1BEECC5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38250"/>
            <a:ext cx="114109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>
                <a:solidFill>
                  <a:srgbClr val="5C6777"/>
                </a:solidFill>
              </a:defRPr>
            </a:pPr>
            <a:r>
              <a:rPr sz="1875">
                <a:solidFill>
                  <a:srgbClr val="5C6777"/>
                </a:solidFill>
              </a:rPr>
              <a:t>The wrapper owns stream adaptation and output accounting. The core owns padded window generation, convolution, and post-processing.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A7558F-EE78-43F1-AE92-6CF59971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5515" y="685800"/>
            <a:ext cx="147618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0EC"/>
          </a:solidFill>
          <a:ln xmlns:a="http://schemas.openxmlformats.org/drawingml/2006/main" w="0">
            <a:solidFill>
              <a:srgbClr val="D9F0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95CA34-F346-4C9C-85D1-431AB737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16300" y="781050"/>
            <a:ext cx="1123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33"/>
                </a:solidFill>
              </a:defRPr>
            </a:pPr>
            <a:r>
              <a:rPr sz="1350" b="1">
                <a:solidFill>
                  <a:srgbClr val="142033"/>
                </a:solidFill>
              </a:rPr>
              <a:t>shell / core split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61F228-4AE3-4013-94BE-5F3FD789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200126-2028-44D6-81C3-A787D734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1714500" cy="2000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4EEF9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873353-9A1C-4E97-92A7-256426FA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9900"/>
            <a:ext cx="137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2033"/>
                </a:solidFill>
              </a:defRPr>
            </a:pPr>
            <a:r>
              <a:rPr sz="1575" b="1">
                <a:solidFill>
                  <a:srgbClr val="142033"/>
                </a:solidFill>
              </a:rPr>
              <a:t>AXI 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08F1A7-D921-4394-819E-003B711CF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24350"/>
            <a:ext cx="1371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>
                <a:solidFill>
                  <a:srgbClr val="5C6777"/>
                </a:solidFill>
              </a:defRPr>
            </a:pPr>
            <a:r>
              <a:rPr sz="1200">
                <a:solidFill>
                  <a:srgbClr val="5C6777"/>
                </a:solidFill>
              </a:rPr>
              <a:t>MM2S byte stream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200">
                <a:solidFill>
                  <a:srgbClr val="5C6777"/>
                </a:solidFill>
              </a:defRPr>
            </a:pPr>
            <a:r>
              <a:rPr sz="1200">
                <a:solidFill>
                  <a:srgbClr val="5C6777"/>
                </a:solidFill>
              </a:rPr>
              <a:t>s_axis_tvalid / tready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86A2AB-9591-4713-9075-377D912B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76650"/>
            <a:ext cx="266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766E"/>
                </a:solidFill>
              </a:defRPr>
            </a:pPr>
            <a:r>
              <a:rPr sz="2550" b="1">
                <a:solidFill>
                  <a:srgbClr val="0F766E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DA2B59-3BE3-488F-AE92-8C3FBA4A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4614" y="2838450"/>
            <a:ext cx="1714500" cy="2000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4EEF9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17458D-70D8-43B5-B853-EB752882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09900"/>
            <a:ext cx="137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2033"/>
                </a:solidFill>
              </a:defRPr>
            </a:pPr>
            <a:r>
              <a:rPr sz="1575" b="1">
                <a:solidFill>
                  <a:srgbClr val="142033"/>
                </a:solidFill>
              </a:rPr>
              <a:t>Input FIFO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07CE95-DE2E-4449-B5B8-4FD9A0FA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171950"/>
            <a:ext cx="13716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>
                <a:solidFill>
                  <a:srgbClr val="5C6777"/>
                </a:solidFill>
              </a:defRPr>
            </a:pPr>
            <a:r>
              <a:rPr sz="1200">
                <a:solidFill>
                  <a:srgbClr val="5C6777"/>
                </a:solidFill>
              </a:rPr>
              <a:t>Decouples DMA from real pixel consumption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ECC468-DE6F-4BBF-AE0A-5FCCC726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676650"/>
            <a:ext cx="266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766E"/>
                </a:solidFill>
              </a:defRPr>
            </a:pPr>
            <a:r>
              <a:rPr sz="2550" b="1">
                <a:solidFill>
                  <a:srgbClr val="0F766E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A5D067-41CB-41CA-8AFB-C4495EDB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927" y="2838450"/>
            <a:ext cx="1714500" cy="2000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8EFE2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741EDF-7393-454F-8B67-3C0D98DA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09900"/>
            <a:ext cx="137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2033"/>
                </a:solidFill>
              </a:defRPr>
            </a:pPr>
            <a:r>
              <a:rPr sz="1575" b="1">
                <a:solidFill>
                  <a:srgbClr val="142033"/>
                </a:solidFill>
              </a:rPr>
              <a:t>line_buffer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E73C8B-7987-44E2-B335-AA068B31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171950"/>
            <a:ext cx="13716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>
                <a:solidFill>
                  <a:srgbClr val="5C6777"/>
                </a:solidFill>
              </a:defRPr>
            </a:pPr>
            <a:r>
              <a:rPr sz="1200">
                <a:solidFill>
                  <a:srgbClr val="5C6777"/>
                </a:solidFill>
              </a:rPr>
              <a:t>Pads internally and emits valid 3x3 windows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E8A700-C10D-4DC7-88CF-E4D72C47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676650"/>
            <a:ext cx="266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766E"/>
                </a:solidFill>
              </a:defRPr>
            </a:pPr>
            <a:r>
              <a:rPr sz="2550" b="1">
                <a:solidFill>
                  <a:srgbClr val="0F766E"/>
                </a:solidFill>
              </a:rPr>
              <a:t>-&gt;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B51F6D-541F-40B0-8FBA-18C972BE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241" y="2838450"/>
            <a:ext cx="1714500" cy="2000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CE7FA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2488DF-2A50-4221-AE2F-6F06BAF4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09900"/>
            <a:ext cx="137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2033"/>
                </a:solidFill>
              </a:defRPr>
            </a:pPr>
            <a:r>
              <a:rPr sz="1575" b="1">
                <a:solidFill>
                  <a:srgbClr val="142033"/>
                </a:solidFill>
              </a:rPr>
              <a:t>conv_mac_array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15DFED-5465-4E28-9669-D5BE837E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24350"/>
            <a:ext cx="1371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>
                <a:solidFill>
                  <a:srgbClr val="5C6777"/>
                </a:solidFill>
              </a:defRPr>
            </a:pPr>
            <a:r>
              <a:rPr sz="1200">
                <a:solidFill>
                  <a:srgbClr val="5C6777"/>
                </a:solidFill>
              </a:rPr>
              <a:t>9 signed products plus adder tree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7D0D64-C0D0-4EC1-8E36-89B89E67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76650"/>
            <a:ext cx="266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766E"/>
                </a:solidFill>
              </a:defRPr>
            </a:pPr>
            <a:r>
              <a:rPr sz="2550" b="1">
                <a:solidFill>
                  <a:srgbClr val="0F766E"/>
                </a:solidFill>
              </a:rPr>
              <a:t>-&gt;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DA7CED-CDF5-4A78-BAAB-1E595FC3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9554" y="2838450"/>
            <a:ext cx="1714500" cy="2000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6E3D1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ED3FD4-D288-44D9-8C2B-C1A97BE7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009900"/>
            <a:ext cx="137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2033"/>
                </a:solidFill>
              </a:defRPr>
            </a:pPr>
            <a:r>
              <a:rPr sz="1575" b="1">
                <a:solidFill>
                  <a:srgbClr val="142033"/>
                </a:solidFill>
              </a:rPr>
              <a:t>ppu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CB8D56-396F-417B-B804-4F8E64EF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324350"/>
            <a:ext cx="1371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>
                <a:solidFill>
                  <a:srgbClr val="5C6777"/>
                </a:solidFill>
              </a:defRPr>
            </a:pPr>
            <a:r>
              <a:rPr sz="1200">
                <a:solidFill>
                  <a:srgbClr val="5C6777"/>
                </a:solidFill>
              </a:rPr>
              <a:t>Bias, requantize, clamp, optional ReLU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977F11-CA7A-4437-8F06-4DD1A358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6850" y="3676650"/>
            <a:ext cx="266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766E"/>
                </a:solidFill>
              </a:defRPr>
            </a:pPr>
            <a:r>
              <a:rPr sz="2550" b="1">
                <a:solidFill>
                  <a:srgbClr val="0F766E"/>
                </a:solidFill>
              </a:rPr>
              <a:t>-&gt;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5E592F-81B5-459E-96F7-5B2FD0F0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7868" y="2838450"/>
            <a:ext cx="1714500" cy="2000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4EEF9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D43FF3-7E5B-4537-B888-3AC7A971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3009900"/>
            <a:ext cx="137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2033"/>
                </a:solidFill>
              </a:defRPr>
            </a:pPr>
            <a:r>
              <a:rPr sz="1575" b="1">
                <a:solidFill>
                  <a:srgbClr val="142033"/>
                </a:solidFill>
              </a:rPr>
              <a:t>Output FIFO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46A533-D4EF-41FF-BDE2-F9C0D3F6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4171950"/>
            <a:ext cx="13716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>
                <a:solidFill>
                  <a:srgbClr val="5C6777"/>
                </a:solidFill>
              </a:defRPr>
            </a:pPr>
            <a:r>
              <a:rPr sz="1200">
                <a:solidFill>
                  <a:srgbClr val="5C6777"/>
                </a:solidFill>
              </a:rPr>
              <a:t>Stores {tlast,data}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200">
                <a:solidFill>
                  <a:srgbClr val="5C6777"/>
                </a:solidFill>
              </a:defRPr>
            </a:pPr>
            <a:r>
              <a:rPr sz="1200">
                <a:solidFill>
                  <a:srgbClr val="5C6777"/>
                </a:solidFill>
              </a:rPr>
              <a:t>and absorbs backpressure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09902F-F927-4542-8DD9-D7F7EA2C9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92400" y="3676650"/>
            <a:ext cx="266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766E"/>
                </a:solidFill>
              </a:defRPr>
            </a:pPr>
            <a:r>
              <a:rPr sz="2550" b="1">
                <a:solidFill>
                  <a:srgbClr val="0F766E"/>
                </a:solidFill>
              </a:rPr>
              <a:t>-&gt;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0653A7-538F-4964-8C02-144011EA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6181" y="2838450"/>
            <a:ext cx="1714500" cy="2000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4EEF9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F6EEC9-5081-42D3-BE9E-8876A9EC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3009900"/>
            <a:ext cx="137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2033"/>
                </a:solidFill>
              </a:defRPr>
            </a:pPr>
            <a:r>
              <a:rPr sz="1575" b="1">
                <a:solidFill>
                  <a:srgbClr val="142033"/>
                </a:solidFill>
              </a:rPr>
              <a:t>AXI output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9D4011-E756-4B7E-A4CC-525A1E09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4171950"/>
            <a:ext cx="13716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>
                <a:solidFill>
                  <a:srgbClr val="5C6777"/>
                </a:solidFill>
              </a:defRPr>
            </a:pPr>
            <a:r>
              <a:rPr sz="1200">
                <a:solidFill>
                  <a:srgbClr val="5C6777"/>
                </a:solidFill>
              </a:rPr>
              <a:t>S2MM stream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200">
                <a:solidFill>
                  <a:srgbClr val="5C6777"/>
                </a:solidFill>
              </a:defRPr>
            </a:pPr>
            <a:r>
              <a:rPr sz="1200">
                <a:solidFill>
                  <a:srgbClr val="5C6777"/>
                </a:solidFill>
              </a:rPr>
              <a:t>m_axis_tvalid / tready / tlast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153323-C0DC-469A-9411-3B8A4DC7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319338"/>
            <a:ext cx="49149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EEF9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69A57E-E9BD-4EBD-B075-3240FA6E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19350"/>
            <a:ext cx="457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33"/>
                </a:solidFill>
              </a:defRPr>
            </a:pPr>
            <a:r>
              <a:rPr sz="1350" b="1">
                <a:solidFill>
                  <a:srgbClr val="142033"/>
                </a:solidFill>
              </a:rPr>
              <a:t>Wrapper region: dw_plane_run_axis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3CB5F7-9A27-4F10-825B-8D974F55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319338"/>
            <a:ext cx="60960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3EC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FF07AE-9ACF-4D04-93E9-C5E1851C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19350"/>
            <a:ext cx="5753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33"/>
                </a:solidFill>
              </a:defRPr>
            </a:pPr>
            <a:r>
              <a:rPr sz="1350" b="1">
                <a:solidFill>
                  <a:srgbClr val="142033"/>
                </a:solidFill>
              </a:rPr>
              <a:t>Shared compute_engine configured for depthwise mode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C0D254-C906-4F38-B426-B2A521B7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286000"/>
            <a:ext cx="491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6"/>
          </a:solidFill>
          <a:ln xmlns:a="http://schemas.openxmlformats.org/drawingml/2006/main" w="0">
            <a:solidFill>
              <a:srgbClr val="F5F0E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F313D2-061E-4D5F-A096-7A53DCE9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91188"/>
            <a:ext cx="5972175" cy="3462338"/>
          </a:xfrm>
          <a:prstGeom xmlns:a="http://schemas.openxmlformats.org/drawingml/2006/main" prst="roundRect">
            <a:avLst>
              <a:gd name="adj" fmla="val 3301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DD0DD6-BA00-429E-817B-1BC187DA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5600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033"/>
                </a:solidFill>
              </a:defRPr>
            </a:pPr>
            <a:r>
              <a:rPr sz="1800" b="1">
                <a:solidFill>
                  <a:srgbClr val="142033"/>
                </a:solidFill>
              </a:rPr>
              <a:t>Wrapper decisions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F77D240-0889-413E-A1A6-8B50CE4D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229350"/>
            <a:ext cx="5600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142033"/>
                </a:solidFill>
              </a:defRPr>
            </a:pPr>
            <a:r>
              <a:rPr sz="1350">
                <a:solidFill>
                  <a:srgbClr val="142033"/>
                </a:solidFill>
              </a:rPr>
              <a:t>s_axis_tready goes low when the input FIFO is full or start_in is flushing state.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40E3B54-2BEB-4D95-A9FB-45CCE537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534150"/>
            <a:ext cx="5600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142033"/>
                </a:solidFill>
              </a:defRPr>
            </a:pPr>
            <a:r>
              <a:rPr sz="1350">
                <a:solidFill>
                  <a:srgbClr val="142033"/>
                </a:solidFill>
              </a:rPr>
              <a:t>throttle_in halts core intake when the output FIFO approaches full.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FEF30C5-14BD-45D1-A545-0D68F7FB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838950"/>
            <a:ext cx="5600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142033"/>
                </a:solidFill>
              </a:defRPr>
            </a:pPr>
            <a:r>
              <a:rPr sz="1350">
                <a:solidFill>
                  <a:srgbClr val="142033"/>
                </a:solidFill>
              </a:rPr>
              <a:t>m_axis_tlast is stored per output pixel, not computed on the fly at the port.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7372D9E-29AB-442D-9269-735D85DE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5691188"/>
            <a:ext cx="4976813" cy="3462338"/>
          </a:xfrm>
          <a:prstGeom xmlns:a="http://schemas.openxmlformats.org/drawingml/2006/main" prst="roundRect">
            <a:avLst>
              <a:gd name="adj" fmla="val 3301"/>
            </a:avLst>
          </a:prstGeom>
          <a:solidFill xmlns:a="http://schemas.openxmlformats.org/drawingml/2006/main">
            <a:srgbClr val="E7F3EC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B69B225-8244-44F9-A941-4A1A403F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886450"/>
            <a:ext cx="4591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033"/>
                </a:solidFill>
              </a:defRPr>
            </a:pPr>
            <a:r>
              <a:rPr sz="1800" b="1">
                <a:solidFill>
                  <a:srgbClr val="142033"/>
                </a:solidFill>
              </a:rPr>
              <a:t>Core configuration for DW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39CB373-F572-4F73-80D5-723D23C5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6229350"/>
            <a:ext cx="4591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142033"/>
                </a:solidFill>
              </a:defRPr>
            </a:pPr>
            <a:r>
              <a:rPr sz="1350">
                <a:solidFill>
                  <a:srgbClr val="142033"/>
                </a:solidFill>
              </a:rPr>
              <a:t>is_depthwise = 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C85DE81-DCCA-452B-8493-6DE3DED6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6534150"/>
            <a:ext cx="4591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142033"/>
                </a:solidFill>
              </a:defRPr>
            </a:pPr>
            <a:r>
              <a:rPr sz="1350">
                <a:solidFill>
                  <a:srgbClr val="142033"/>
                </a:solidFill>
              </a:rPr>
              <a:t>bypass_1x1 = 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95EA63B-CBE1-4A54-9A38-75DAF690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6838950"/>
            <a:ext cx="4591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142033"/>
                </a:solidFill>
              </a:defRPr>
            </a:pPr>
            <a:r>
              <a:rPr sz="1350">
                <a:solidFill>
                  <a:srgbClr val="142033"/>
                </a:solidFill>
              </a:rPr>
              <a:t>mode_residual = 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034BD5C-04EF-480B-87C0-F6E0B551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7124700"/>
            <a:ext cx="4591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142033"/>
                </a:solidFill>
              </a:defRPr>
            </a:pPr>
            <a:r>
              <a:rPr sz="1350">
                <a:solidFill>
                  <a:srgbClr val="142033"/>
                </a:solidFill>
              </a:rPr>
              <a:t>psum_clear = 1 and residual inputs are tied off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404C6EE-3CD2-44DB-B7F9-2B634BFD3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4888" y="5691188"/>
            <a:ext cx="4976813" cy="3462338"/>
          </a:xfrm>
          <a:prstGeom xmlns:a="http://schemas.openxmlformats.org/drawingml/2006/main" prst="roundRect">
            <a:avLst>
              <a:gd name="adj" fmla="val 3301"/>
            </a:avLst>
          </a:prstGeom>
          <a:solidFill xmlns:a="http://schemas.openxmlformats.org/drawingml/2006/main">
            <a:srgbClr val="F6E3D1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4D552D7-E4D7-4680-BC0D-9248154F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5886450"/>
            <a:ext cx="4591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033"/>
                </a:solidFill>
              </a:defRPr>
            </a:pPr>
            <a:r>
              <a:rPr sz="1800" b="1">
                <a:solidFill>
                  <a:srgbClr val="142033"/>
                </a:solidFill>
              </a:rPr>
              <a:t>What the audience should remember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7448720-FECB-4794-A4C7-6AC70CC6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6229350"/>
            <a:ext cx="4591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142033"/>
                </a:solidFill>
              </a:defRPr>
            </a:pPr>
            <a:r>
              <a:rPr sz="1350">
                <a:solidFill>
                  <a:srgbClr val="142033"/>
                </a:solidFill>
              </a:rPr>
              <a:t>The shell guarantees correct stream behavior.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416C7B5-2673-4F48-AD87-9ED55BE0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6534150"/>
            <a:ext cx="4591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142033"/>
                </a:solidFill>
              </a:defRPr>
            </a:pPr>
            <a:r>
              <a:rPr sz="1350">
                <a:solidFill>
                  <a:srgbClr val="142033"/>
                </a:solidFill>
              </a:rPr>
              <a:t>The core guarantees correct math over a virtual padded image.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52D418E-B522-4607-82A2-0698F09E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6838950"/>
            <a:ext cx="45910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142033"/>
                </a:solidFill>
              </a:defRPr>
            </a:pPr>
            <a:r>
              <a:rPr sz="1350">
                <a:solidFill>
                  <a:srgbClr val="142033"/>
                </a:solidFill>
              </a:rPr>
              <a:t>The two are coupled by FIFO contracts rather than direct AXI timing.</a:t>
            </a:r>
          </a:p>
        </p:txBody>
      </p:sp>
      <p:sp>
        <p:nvSpPr>
          <p:cNvPr id="55" name="source">
            <a:extLst xmlns:a="http://schemas.openxmlformats.org/drawingml/2006/main">
              <a:ext uri="{FF2B5EF4-FFF2-40B4-BE49-F238E27FC236}">
                <a16:creationId xmlns:a16="http://schemas.microsoft.com/office/drawing/2014/main" id="{FB57CD61-240E-4BDB-8327-A949BEC3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486900"/>
            <a:ext cx="165354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C6777"/>
                </a:solidFill>
              </a:defRPr>
            </a:pPr>
            <a:r>
              <a:rPr sz="975">
                <a:solidFill>
                  <a:srgbClr val="5C6777"/>
                </a:solidFill>
              </a:rPr>
              <a:t>Slide claim verified against dw_plane_run_axis.sv and compute_engine.sv.</a:t>
            </a:r>
          </a:p>
        </p:txBody>
      </p:sp>
    </p:spTree>
    <p:extLst>
      <p:ext uri="{BB962C8B-B14F-4D97-AF65-F5344CB8AC3E}">
        <p14:creationId xmlns:p14="http://schemas.microsoft.com/office/powerpoint/2010/main" val="108736116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B060BA-C9E7-4815-873C-EC58B8D6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6"/>
          </a:solidFill>
          <a:ln xmlns:a="http://schemas.openxmlformats.org/drawingml/2006/main" w="0">
            <a:solidFill>
              <a:srgbClr val="F5F0E6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CD47660-2BE2-4A1F-AE4A-904F0A4E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85800"/>
            <a:ext cx="14706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033"/>
                </a:solidFill>
              </a:defRPr>
            </a:pPr>
            <a:r>
              <a:rPr sz="3600" b="1">
                <a:solidFill>
                  <a:srgbClr val="142033"/>
                </a:solidFill>
              </a:rPr>
              <a:t>What dw_plane_run_axis actually owns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6540B93-04CA-4271-92C7-327D22AA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38250"/>
            <a:ext cx="11163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>
                <a:solidFill>
                  <a:srgbClr val="5C6777"/>
                </a:solidFill>
              </a:defRPr>
            </a:pPr>
            <a:r>
              <a:rPr sz="1875">
                <a:solidFill>
                  <a:srgbClr val="5C6777"/>
                </a:solidFill>
              </a:rPr>
              <a:t>It is the stream shell around a shared compute engine: parameter capture, FIFO decoupling, output counting, TLAST tagging, and external completion.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5AEC3F-1D3F-4772-8E1C-1DF7DE64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4262" y="685800"/>
            <a:ext cx="1597438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E3D1"/>
          </a:solidFill>
          <a:ln xmlns:a="http://schemas.openxmlformats.org/drawingml/2006/main" w="0">
            <a:solidFill>
              <a:srgbClr val="F6E3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664569-358B-420C-8DB0-8AF401B7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78105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33"/>
                </a:solidFill>
              </a:defRPr>
            </a:pPr>
            <a:r>
              <a:rPr sz="1350" b="1">
                <a:solidFill>
                  <a:srgbClr val="142033"/>
                </a:solidFill>
              </a:rPr>
              <a:t>top-level contract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9F03DE-09A4-40DA-BD27-07AC36E3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8DD8A0-5E7E-4938-90E4-D4815A93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1238"/>
            <a:ext cx="8916353" cy="2162175"/>
          </a:xfrm>
          <a:prstGeom xmlns:a="http://schemas.openxmlformats.org/drawingml/2006/main" prst="roundRect">
            <a:avLst>
              <a:gd name="adj" fmla="val 5286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2FE4A4-30E2-4E04-BB68-C351A4FA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33650"/>
            <a:ext cx="409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C6777"/>
                </a:solidFill>
              </a:defRPr>
            </a:pPr>
            <a:r>
              <a:rPr sz="1125" b="1">
                <a:solidFill>
                  <a:srgbClr val="5C6777"/>
                </a:solidFill>
              </a:rPr>
              <a:t>Control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A46469-D7BE-4F19-98BE-91150071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24150"/>
            <a:ext cx="4095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42033"/>
                </a:solidFill>
              </a:defRPr>
            </a:pPr>
            <a:r>
              <a:rPr sz="1800">
                <a:solidFill>
                  <a:srgbClr val="142033"/>
                </a:solidFill>
              </a:rPr>
              <a:t>start_in, done_out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8E1B8F-D3E3-4B4B-9505-5E7E5A1A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533650"/>
            <a:ext cx="409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C6777"/>
                </a:solidFill>
              </a:defRPr>
            </a:pPr>
            <a:r>
              <a:rPr sz="1125" b="1">
                <a:solidFill>
                  <a:srgbClr val="5C6777"/>
                </a:solidFill>
              </a:rPr>
              <a:t>Geometry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D9662F-6F05-4BA8-B494-1CE41997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724150"/>
            <a:ext cx="4095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42033"/>
                </a:solidFill>
              </a:defRPr>
            </a:pPr>
            <a:r>
              <a:rPr sz="1800">
                <a:solidFill>
                  <a:srgbClr val="142033"/>
                </a:solidFill>
              </a:rPr>
              <a:t>img_width, img_height, pad_top, stride_2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468A5F-A45A-4ED2-9C86-50D07998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43250"/>
            <a:ext cx="409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C6777"/>
                </a:solidFill>
              </a:defRPr>
            </a:pPr>
            <a:r>
              <a:rPr sz="1125" b="1">
                <a:solidFill>
                  <a:srgbClr val="5C6777"/>
                </a:solidFill>
              </a:rPr>
              <a:t>Quantization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15ADDA-D917-4F81-8890-516D5D27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52800"/>
            <a:ext cx="4095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42033"/>
                </a:solidFill>
              </a:defRPr>
            </a:pPr>
            <a:r>
              <a:rPr sz="1800">
                <a:solidFill>
                  <a:srgbClr val="142033"/>
                </a:solidFill>
              </a:rPr>
              <a:t>zp_in, zp_out, bias_in, mult_in, shift_in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0EC071-8F65-4A27-9BBE-9E7E8581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143250"/>
            <a:ext cx="409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C6777"/>
                </a:solidFill>
              </a:defRPr>
            </a:pPr>
            <a:r>
              <a:rPr sz="1125" b="1">
                <a:solidFill>
                  <a:srgbClr val="5C6777"/>
                </a:solidFill>
              </a:rPr>
              <a:t>Kernel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4A72FE-BE29-4DD7-B548-B6F5DEA1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352800"/>
            <a:ext cx="409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2033"/>
                </a:solidFill>
              </a:defRPr>
            </a:pPr>
            <a:r>
              <a:rPr sz="1650">
                <a:solidFill>
                  <a:srgbClr val="142033"/>
                </a:solidFill>
              </a:rPr>
              <a:t>weights_3x3[2:0][2:0]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18D553-9B2A-4EE5-B618-03EC1EF2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71900"/>
            <a:ext cx="409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C6777"/>
                </a:solidFill>
              </a:defRPr>
            </a:pPr>
            <a:r>
              <a:rPr sz="1125" b="1">
                <a:solidFill>
                  <a:srgbClr val="5C6777"/>
                </a:solidFill>
              </a:rPr>
              <a:t>Ingress AXI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AB36C1-8929-4A81-9C48-6F35E094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62400"/>
            <a:ext cx="4095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42033"/>
                </a:solidFill>
              </a:defRPr>
            </a:pPr>
            <a:r>
              <a:rPr sz="1800">
                <a:solidFill>
                  <a:srgbClr val="142033"/>
                </a:solidFill>
              </a:rPr>
              <a:t>s_axis_tdata / tvalid / tready / tlast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54E0DD-81BC-4E8C-8CAC-95934C9B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771900"/>
            <a:ext cx="409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C6777"/>
                </a:solidFill>
              </a:defRPr>
            </a:pPr>
            <a:r>
              <a:rPr sz="1125" b="1">
                <a:solidFill>
                  <a:srgbClr val="5C6777"/>
                </a:solidFill>
              </a:rPr>
              <a:t>Egress AXI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69BFF8-9582-4306-8BA5-D086F816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62400"/>
            <a:ext cx="4095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42033"/>
                </a:solidFill>
              </a:defRPr>
            </a:pPr>
            <a:r>
              <a:rPr sz="1800">
                <a:solidFill>
                  <a:srgbClr val="142033"/>
                </a:solidFill>
              </a:rPr>
              <a:t>m_axis_tdata / tvalid / tready / tlast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B99E39-208D-4E69-8BDE-FB686F27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6503" y="2281238"/>
            <a:ext cx="7295198" cy="2162175"/>
          </a:xfrm>
          <a:prstGeom xmlns:a="http://schemas.openxmlformats.org/drawingml/2006/main" prst="roundRect">
            <a:avLst>
              <a:gd name="adj" fmla="val 5286"/>
            </a:avLst>
          </a:prstGeom>
          <a:solidFill xmlns:a="http://schemas.openxmlformats.org/drawingml/2006/main">
            <a:srgbClr val="E4EEF9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E14B82-F3F4-40DA-8696-35AFC9E1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533650"/>
            <a:ext cx="6800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033"/>
                </a:solidFill>
              </a:defRPr>
            </a:pPr>
            <a:r>
              <a:rPr sz="1950" b="1">
                <a:solidFill>
                  <a:srgbClr val="142033"/>
                </a:solidFill>
              </a:rPr>
              <a:t>Wrapper-specific control logic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92C83C-FEAF-44AA-94E7-4A17ADCC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914650"/>
            <a:ext cx="6800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350">
                <a:solidFill>
                  <a:srgbClr val="142033"/>
                </a:solidFill>
              </a:defRPr>
            </a:pPr>
            <a:r>
              <a:rPr sz="1350">
                <a:solidFill>
                  <a:srgbClr val="142033"/>
                </a:solidFill>
              </a:rPr>
              <a:t>- Derived out_w / out_h determine how many pixels must be emitted.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B6F778-F3F5-42CA-BCDA-F82C8AF0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19450"/>
            <a:ext cx="6800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350">
                <a:solidFill>
                  <a:srgbClr val="142033"/>
                </a:solidFill>
              </a:defRPr>
            </a:pPr>
            <a:r>
              <a:rPr sz="1350">
                <a:solidFill>
                  <a:srgbClr val="142033"/>
                </a:solidFill>
              </a:rPr>
              <a:t>- produced_cnt marks the last generated pixel before it enters the output FIFO.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DB5E70-F410-405D-820C-8E9AF2EC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524250"/>
            <a:ext cx="6800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350">
                <a:solidFill>
                  <a:srgbClr val="142033"/>
                </a:solidFill>
              </a:defRPr>
            </a:pPr>
            <a:r>
              <a:rPr sz="1350">
                <a:solidFill>
                  <a:srgbClr val="142033"/>
                </a:solidFill>
              </a:rPr>
              <a:t>- done_out does not follow core_done; it waits for final AXI acceptance.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DEAB0F-9FB9-4095-AF1B-542A0AEE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72013"/>
            <a:ext cx="8916353" cy="4519613"/>
          </a:xfrm>
          <a:prstGeom xmlns:a="http://schemas.openxmlformats.org/drawingml/2006/main" prst="roundRect">
            <a:avLst>
              <a:gd name="adj" fmla="val 2529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76819F-01FA-48B0-A574-69492EB1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33950"/>
            <a:ext cx="8382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033"/>
                </a:solidFill>
              </a:defRPr>
            </a:pPr>
            <a:r>
              <a:rPr sz="2100" b="1">
                <a:solidFill>
                  <a:srgbClr val="142033"/>
                </a:solidFill>
              </a:rPr>
              <a:t>Input side behavior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6989E2-3F70-4E8D-98FD-24698D3A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29250"/>
            <a:ext cx="8382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75">
                <a:solidFill>
                  <a:srgbClr val="142033"/>
                </a:solidFill>
              </a:defRPr>
            </a:pPr>
            <a:r>
              <a:rPr sz="1575">
                <a:solidFill>
                  <a:srgbClr val="142033"/>
                </a:solidFill>
              </a:rPr>
              <a:t>- s_axis_tready = !in_full &amp;&amp; !start_in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D242D4-B6E0-4C66-A81E-F4DD4E3C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72150"/>
            <a:ext cx="8382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75">
                <a:solidFill>
                  <a:srgbClr val="142033"/>
                </a:solidFill>
              </a:defRPr>
            </a:pPr>
            <a:r>
              <a:rPr sz="1575">
                <a:solidFill>
                  <a:srgbClr val="142033"/>
                </a:solidFill>
              </a:rPr>
              <a:t>- Input FIFO uses show-ahead read: pixel_in always sees in_mem[in_rd_ptr].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E45CB2-0ADA-479E-BBBB-7B404324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115050"/>
            <a:ext cx="8382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75">
                <a:solidFill>
                  <a:srgbClr val="142033"/>
                </a:solidFill>
              </a:defRPr>
            </a:pPr>
            <a:r>
              <a:rPr sz="1575">
                <a:solidFill>
                  <a:srgbClr val="142033"/>
                </a:solidFill>
              </a:rPr>
              <a:t>- in_pop happens only when consume_in &amp;&amp; valid_in, so padding does not advance the FIFO.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296014-0767-482A-837C-AEE60643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572250"/>
            <a:ext cx="8382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766E"/>
                </a:solidFill>
              </a:defRPr>
            </a:pPr>
            <a:r>
              <a:rPr sz="2100" b="1">
                <a:solidFill>
                  <a:srgbClr val="0F766E"/>
                </a:solidFill>
              </a:rPr>
              <a:t>Output side behavior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7CD92C-39A0-4023-96A1-F821D070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067550"/>
            <a:ext cx="8382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75">
                <a:solidFill>
                  <a:srgbClr val="142033"/>
                </a:solidFill>
              </a:defRPr>
            </a:pPr>
            <a:r>
              <a:rPr sz="1575">
                <a:solidFill>
                  <a:srgbClr val="142033"/>
                </a:solidFill>
              </a:rPr>
              <a:t>- Each output FIFO entry stores {last, data} as a 9-bit word.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25D388-CFB4-4DE7-811F-7D55DCD7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429500"/>
            <a:ext cx="8382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75">
                <a:solidFill>
                  <a:srgbClr val="142033"/>
                </a:solidFill>
              </a:defRPr>
            </a:pPr>
            <a:r>
              <a:rPr sz="1575">
                <a:solidFill>
                  <a:srgbClr val="142033"/>
                </a:solidFill>
              </a:rPr>
              <a:t>- throttle_in rises when out_count &gt;= OUT_FIFO_DEPTH - 32.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3BDA97-122E-45EE-9D4D-3825A3C8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772400"/>
            <a:ext cx="8382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75">
                <a:solidFill>
                  <a:srgbClr val="142033"/>
                </a:solidFill>
              </a:defRPr>
            </a:pPr>
            <a:r>
              <a:rPr sz="1575">
                <a:solidFill>
                  <a:srgbClr val="142033"/>
                </a:solidFill>
              </a:rPr>
              <a:t>- done_out = m_axis_tvalid &amp;&amp; m_axis_tready &amp;&amp; m_axis_tlast.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854A1A-46AD-4AC9-A8E5-7BDB24682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6503" y="4672013"/>
            <a:ext cx="7295198" cy="4519613"/>
          </a:xfrm>
          <a:prstGeom xmlns:a="http://schemas.openxmlformats.org/drawingml/2006/main" prst="roundRect">
            <a:avLst>
              <a:gd name="adj" fmla="val 2529"/>
            </a:avLst>
          </a:prstGeom>
          <a:solidFill xmlns:a="http://schemas.openxmlformats.org/drawingml/2006/main">
            <a:srgbClr val="F6E3D1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C13B81-DAEC-4574-8171-F738C5DF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933950"/>
            <a:ext cx="6762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96B1B"/>
                </a:solidFill>
              </a:defRPr>
            </a:pPr>
            <a:r>
              <a:rPr sz="2100" b="1">
                <a:solidFill>
                  <a:srgbClr val="C96B1B"/>
                </a:solidFill>
              </a:rPr>
              <a:t>One subtle but important note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C6080A-6889-4D58-ADBB-268C48BC9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62700"/>
            <a:ext cx="67627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725">
                <a:solidFill>
                  <a:srgbClr val="142033"/>
                </a:solidFill>
              </a:defRPr>
            </a:pPr>
            <a:r>
              <a:rPr sz="1725">
                <a:solidFill>
                  <a:srgbClr val="142033"/>
                </a:solidFill>
              </a:rPr>
              <a:t>The wrapper contains an explicit comment that its stride-2 output size formula is a ceil(W/2), ceil(H/2) approximation for the network being targeted. That is acceptable for the current use case, but it is still a model-level assumption worth stating in a viva.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D7073BB-E6EE-4836-8D8C-891BE779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8553450"/>
            <a:ext cx="6762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2033"/>
                </a:solidFill>
              </a:defRPr>
            </a:pPr>
            <a:r>
              <a:rPr sz="1500" b="1">
                <a:solidFill>
                  <a:srgbClr val="142033"/>
                </a:solidFill>
              </a:rPr>
              <a:t>Presentation takeaway: the shell is not mathematically deep, but it decides what the outside world believes the accelerator has completed.</a:t>
            </a:r>
          </a:p>
        </p:txBody>
      </p:sp>
      <p:sp>
        <p:nvSpPr>
          <p:cNvPr id="38" name="source">
            <a:extLst xmlns:a="http://schemas.openxmlformats.org/drawingml/2006/main">
              <a:ext uri="{FF2B5EF4-FFF2-40B4-BE49-F238E27FC236}">
                <a16:creationId xmlns:a16="http://schemas.microsoft.com/office/drawing/2014/main" id="{3C72E40F-A539-4013-8DF3-1CD60B72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486900"/>
            <a:ext cx="165354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C6777"/>
                </a:solidFill>
              </a:defRPr>
            </a:pPr>
            <a:r>
              <a:rPr sz="975">
                <a:solidFill>
                  <a:srgbClr val="5C6777"/>
                </a:solidFill>
              </a:rPr>
              <a:t>Verified against dw_plane_run_axis.sv: FIFO control, output counting, TLAST generation, and top-level done_out.</a:t>
            </a:r>
          </a:p>
        </p:txBody>
      </p:sp>
    </p:spTree>
    <p:extLst>
      <p:ext uri="{BB962C8B-B14F-4D97-AF65-F5344CB8AC3E}">
        <p14:creationId xmlns:p14="http://schemas.microsoft.com/office/powerpoint/2010/main" val="140167516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C62FA9-3A54-4D97-9E0A-C824E966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6"/>
          </a:solidFill>
          <a:ln xmlns:a="http://schemas.openxmlformats.org/drawingml/2006/main" w="0">
            <a:solidFill>
              <a:srgbClr val="F5F0E6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C291808-A078-46E1-81D2-44232C04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85800"/>
            <a:ext cx="14649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033"/>
                </a:solidFill>
              </a:defRPr>
            </a:pPr>
            <a:r>
              <a:rPr sz="3600" b="1">
                <a:solidFill>
                  <a:srgbClr val="142033"/>
                </a:solidFill>
              </a:rPr>
              <a:t>line_buffer turns a 1D stream into a padded 3x3 view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02C32DB-A8BA-4C76-83CF-2208678B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38250"/>
            <a:ext cx="10782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>
                <a:solidFill>
                  <a:srgbClr val="5C6777"/>
                </a:solidFill>
              </a:defRPr>
            </a:pPr>
            <a:r>
              <a:rPr sz="1875">
                <a:solidFill>
                  <a:srgbClr val="5C6777"/>
                </a:solidFill>
              </a:rPr>
              <a:t>Padding is synthesized internally with zp_in, so the input FIFO only advances when a real source pixel is needed.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CA7197-195C-4E42-BC90-53C586F8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1494" y="685800"/>
            <a:ext cx="1650206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FE2"/>
          </a:solidFill>
          <a:ln xmlns:a="http://schemas.openxmlformats.org/drawingml/2006/main" w="0">
            <a:solidFill>
              <a:srgbClr val="D8EF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AFAE3C-AE69-4B09-85BF-31C01221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5800" y="781050"/>
            <a:ext cx="1314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33"/>
                </a:solidFill>
              </a:defRPr>
            </a:pPr>
            <a:r>
              <a:rPr sz="1350" b="1">
                <a:solidFill>
                  <a:srgbClr val="142033"/>
                </a:solidFill>
              </a:rPr>
              <a:t>window generator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4067CB-2395-449A-BC6F-83E38F2F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EC3478-598B-4E0D-9A43-7D652B2BC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7394"/>
            <a:ext cx="9321641" cy="2034540"/>
          </a:xfrm>
          <a:prstGeom xmlns:a="http://schemas.openxmlformats.org/drawingml/2006/main" prst="roundRect">
            <a:avLst>
              <a:gd name="adj" fmla="val 5618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FA8958-B07F-40CE-A25D-1BF559FE2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47900"/>
            <a:ext cx="8820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033"/>
                </a:solidFill>
              </a:defRPr>
            </a:pPr>
            <a:r>
              <a:rPr sz="2100" b="1">
                <a:solidFill>
                  <a:srgbClr val="142033"/>
                </a:solidFill>
              </a:rPr>
              <a:t>Internal storage structure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37D0C1-9604-4031-8168-E97A6A8A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93194"/>
            <a:ext cx="2827814" cy="1101090"/>
          </a:xfrm>
          <a:prstGeom xmlns:a="http://schemas.openxmlformats.org/drawingml/2006/main" prst="roundRect">
            <a:avLst>
              <a:gd name="adj" fmla="val 10381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5C1FF1-3D16-4EB5-B253-4A59DB26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76550"/>
            <a:ext cx="2438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033"/>
                </a:solidFill>
              </a:defRPr>
            </a:pPr>
            <a:r>
              <a:rPr sz="1800" b="1">
                <a:solidFill>
                  <a:srgbClr val="142033"/>
                </a:solidFill>
              </a:rPr>
              <a:t>line1 BRAM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B8F9A8-0C08-4BAF-92CF-353F6E28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19450"/>
            <a:ext cx="2438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142033"/>
                </a:solidFill>
              </a:defRPr>
            </a:pPr>
            <a:r>
              <a:rPr sz="1350">
                <a:solidFill>
                  <a:srgbClr val="142033"/>
                </a:solidFill>
              </a:rPr>
              <a:t>Two rows back at the current column tap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65FB22-C370-44CF-A43D-469F42E9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3214" y="2693194"/>
            <a:ext cx="2827814" cy="1101090"/>
          </a:xfrm>
          <a:prstGeom xmlns:a="http://schemas.openxmlformats.org/drawingml/2006/main" prst="roundRect">
            <a:avLst>
              <a:gd name="adj" fmla="val 10381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10E60F-1303-40DC-A477-257F24C0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76550"/>
            <a:ext cx="2438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033"/>
                </a:solidFill>
              </a:defRPr>
            </a:pPr>
            <a:r>
              <a:rPr sz="1800" b="1">
                <a:solidFill>
                  <a:srgbClr val="142033"/>
                </a:solidFill>
              </a:rPr>
              <a:t>line0 BRAM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5E8291-6F2A-4523-9D97-06DFF43A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19450"/>
            <a:ext cx="2438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142033"/>
                </a:solidFill>
              </a:defRPr>
            </a:pPr>
            <a:r>
              <a:rPr sz="1350">
                <a:solidFill>
                  <a:srgbClr val="142033"/>
                </a:solidFill>
              </a:rPr>
              <a:t>Previous row at the current column tap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4B9623-B927-409C-9F2B-923B94BF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2478" y="2693194"/>
            <a:ext cx="2827814" cy="1101090"/>
          </a:xfrm>
          <a:prstGeom xmlns:a="http://schemas.openxmlformats.org/drawingml/2006/main" prst="roundRect">
            <a:avLst>
              <a:gd name="adj" fmla="val 10381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91B912-8225-4899-BC09-57292588A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76550"/>
            <a:ext cx="2438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033"/>
                </a:solidFill>
              </a:defRPr>
            </a:pPr>
            <a:r>
              <a:rPr sz="1800" b="1">
                <a:solidFill>
                  <a:srgbClr val="142033"/>
                </a:solidFill>
              </a:rPr>
              <a:t>Shift registers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68A54A-333B-4925-BD7A-57B7B1B1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219450"/>
            <a:ext cx="2438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142033"/>
                </a:solidFill>
              </a:defRPr>
            </a:pPr>
            <a:r>
              <a:rPr sz="1350">
                <a:solidFill>
                  <a:srgbClr val="142033"/>
                </a:solidFill>
              </a:rPr>
              <a:t>s0_x, s1_x, s2_x hold the current 3-column neighborhood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3880E7-F65E-4ECA-B94C-296E6E32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70534"/>
            <a:ext cx="9321641" cy="4921091"/>
          </a:xfrm>
          <a:prstGeom xmlns:a="http://schemas.openxmlformats.org/drawingml/2006/main" prst="roundRect">
            <a:avLst>
              <a:gd name="adj" fmla="val 2323"/>
            </a:avLst>
          </a:prstGeom>
          <a:solidFill xmlns:a="http://schemas.openxmlformats.org/drawingml/2006/main">
            <a:srgbClr val="D8EFE2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5CE507-277C-4F48-8B7E-63D256F5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14850"/>
            <a:ext cx="8820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033"/>
                </a:solidFill>
              </a:defRPr>
            </a:pPr>
            <a:r>
              <a:rPr sz="2100" b="1">
                <a:solidFill>
                  <a:srgbClr val="142033"/>
                </a:solidFill>
              </a:rPr>
              <a:t>How a window is formed on each advance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8E32CD-B508-4779-914F-6DE1350D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75384"/>
            <a:ext cx="1587500" cy="107950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93A21F-51C9-41C5-86E8-6D38012A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1447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2033"/>
                </a:solidFill>
              </a:defRPr>
            </a:pPr>
            <a:r>
              <a:rPr sz="1500" b="1">
                <a:solidFill>
                  <a:srgbClr val="142033"/>
                </a:solidFill>
              </a:rPr>
              <a:t>s0_0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EE844C-07B8-49E5-B224-8B2E84DF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6700" y="4975384"/>
            <a:ext cx="1587500" cy="107950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4CA45C-AA9C-43F6-9D16-442BC126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429250"/>
            <a:ext cx="1447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2033"/>
                </a:solidFill>
              </a:defRPr>
            </a:pPr>
            <a:r>
              <a:rPr sz="1500" b="1">
                <a:solidFill>
                  <a:srgbClr val="142033"/>
                </a:solidFill>
              </a:rPr>
              <a:t>s0_1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AD6B72-E19A-49DC-BC35-8A4ADF92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450" y="4975384"/>
            <a:ext cx="1587500" cy="107950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1FC93D-B2FE-4FC6-89C0-F2CD6D78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429250"/>
            <a:ext cx="1447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2033"/>
                </a:solidFill>
              </a:defRPr>
            </a:pPr>
            <a:r>
              <a:rPr sz="1500" b="1">
                <a:solidFill>
                  <a:srgbClr val="142033"/>
                </a:solidFill>
              </a:rPr>
              <a:t>s0_2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508C17-2741-40CE-8A45-78C4C142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150134"/>
            <a:ext cx="1587500" cy="107950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0844C4-7E2D-4A02-8C1E-9D8F0846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591300"/>
            <a:ext cx="1447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2033"/>
                </a:solidFill>
              </a:defRPr>
            </a:pPr>
            <a:r>
              <a:rPr sz="1500" b="1">
                <a:solidFill>
                  <a:srgbClr val="142033"/>
                </a:solidFill>
              </a:rPr>
              <a:t>s1_0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A7D178-108A-4AF4-86BC-5A0E2C3F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6700" y="6150134"/>
            <a:ext cx="1587500" cy="107950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F6E3D1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D5C689-9725-4425-820E-B76ADB87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6591300"/>
            <a:ext cx="1447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2033"/>
                </a:solidFill>
              </a:defRPr>
            </a:pPr>
            <a:r>
              <a:rPr sz="1500" b="1">
                <a:solidFill>
                  <a:srgbClr val="142033"/>
                </a:solidFill>
              </a:rPr>
              <a:t>s1_1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D5400B-0532-4458-BFF4-704084A5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450" y="6150134"/>
            <a:ext cx="1587500" cy="107950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555936-EFA1-47D8-A62C-AE5B2CA0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591300"/>
            <a:ext cx="1447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2033"/>
                </a:solidFill>
              </a:defRPr>
            </a:pPr>
            <a:r>
              <a:rPr sz="1500" b="1">
                <a:solidFill>
                  <a:srgbClr val="142033"/>
                </a:solidFill>
              </a:rPr>
              <a:t>s1_2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5032CD-4258-48D3-884F-6411FE5E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7324884"/>
            <a:ext cx="1587500" cy="107950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077E70-65D3-4887-A1E7-67FDEB4B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772400"/>
            <a:ext cx="1447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2033"/>
                </a:solidFill>
              </a:defRPr>
            </a:pPr>
            <a:r>
              <a:rPr sz="1500" b="1">
                <a:solidFill>
                  <a:srgbClr val="142033"/>
                </a:solidFill>
              </a:rPr>
              <a:t>s2_0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4C7686B-4679-4D7B-AEAC-187B4E88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6700" y="7324884"/>
            <a:ext cx="1587500" cy="107950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703D14-EA73-46A2-87CE-312AF2D7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7772400"/>
            <a:ext cx="1447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2033"/>
                </a:solidFill>
              </a:defRPr>
            </a:pPr>
            <a:r>
              <a:rPr sz="1500" b="1">
                <a:solidFill>
                  <a:srgbClr val="142033"/>
                </a:solidFill>
              </a:rPr>
              <a:t>s2_1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EE29BB-5922-451B-B5E9-CE31B2EB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450" y="7324884"/>
            <a:ext cx="1587500" cy="107950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D9F0EC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493EB9-D27E-4A73-95AD-F999E407C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7772400"/>
            <a:ext cx="1447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2033"/>
                </a:solidFill>
              </a:defRPr>
            </a:pPr>
            <a:r>
              <a:rPr sz="1500" b="1">
                <a:solidFill>
                  <a:srgbClr val="142033"/>
                </a:solidFill>
              </a:rPr>
              <a:t>s2_2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4D6C59-20D3-4DFA-9488-2989EBA6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8591550"/>
            <a:ext cx="8686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142033"/>
                </a:solidFill>
              </a:defRPr>
            </a:pPr>
            <a:r>
              <a:rPr sz="1650">
                <a:solidFill>
                  <a:srgbClr val="142033"/>
                </a:solidFill>
              </a:rPr>
              <a:t>At every advance: s2_2 gets px_gen, s1_2 gets line0[gen_col], and s0_2 gets line1[gen_col]. Then line0 stores px_gen and line1 stores the old line0 value.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EB2641C-C025-478E-9538-2097ED89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1791" y="2007394"/>
            <a:ext cx="6889909" cy="1518285"/>
          </a:xfrm>
          <a:prstGeom xmlns:a="http://schemas.openxmlformats.org/drawingml/2006/main" prst="roundRect">
            <a:avLst>
              <a:gd name="adj" fmla="val 7528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CE7431C-CA70-471D-9E37-4C1D4F7C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190750"/>
            <a:ext cx="6515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033"/>
                </a:solidFill>
              </a:defRPr>
            </a:pPr>
            <a:r>
              <a:rPr sz="1800" b="1">
                <a:solidFill>
                  <a:srgbClr val="142033"/>
                </a:solidFill>
              </a:rPr>
              <a:t>Key predicates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63EC569-507C-4946-8015-B9D0CC4A3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533650"/>
            <a:ext cx="6515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142033"/>
                </a:solidFill>
              </a:defRPr>
            </a:pPr>
            <a:r>
              <a:rPr sz="1350">
                <a:solidFill>
                  <a:srgbClr val="142033"/>
                </a:solidFill>
              </a:rPr>
              <a:t>need_real_px: current generated coordinate lies inside the real image bounds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0290271-29E5-4B7F-92CA-8C0660F4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838450"/>
            <a:ext cx="6515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142033"/>
                </a:solidFill>
              </a:defRPr>
            </a:pPr>
            <a:r>
              <a:rPr sz="1350">
                <a:solidFill>
                  <a:srgbClr val="142033"/>
                </a:solidFill>
              </a:rPr>
              <a:t>advance: running &amp;&amp; (!need_real_px || valid_in)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FBED57B-C8B8-4114-93A2-D15BFDDB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143250"/>
            <a:ext cx="6515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142033"/>
                </a:solidFill>
              </a:defRPr>
            </a:pPr>
            <a:r>
              <a:rPr sz="1350">
                <a:solidFill>
                  <a:srgbClr val="142033"/>
                </a:solidFill>
              </a:rPr>
              <a:t>consume_in: advance &amp;&amp; need_real_px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4DC694F-31B0-4433-8B0A-E43D67CD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1791" y="3735229"/>
            <a:ext cx="6889909" cy="1518285"/>
          </a:xfrm>
          <a:prstGeom xmlns:a="http://schemas.openxmlformats.org/drawingml/2006/main" prst="roundRect">
            <a:avLst>
              <a:gd name="adj" fmla="val 7528"/>
            </a:avLst>
          </a:prstGeom>
          <a:solidFill xmlns:a="http://schemas.openxmlformats.org/drawingml/2006/main">
            <a:srgbClr val="D9F0EC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1AAAFB0-FF19-4FB4-A561-64A83F54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924300"/>
            <a:ext cx="6515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033"/>
                </a:solidFill>
              </a:defRPr>
            </a:pPr>
            <a:r>
              <a:rPr sz="1800" b="1">
                <a:solidFill>
                  <a:srgbClr val="142033"/>
                </a:solidFill>
              </a:rPr>
              <a:t>What that means architecturally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4580BFB-055B-4988-B269-8C5B928E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267200"/>
            <a:ext cx="6515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142033"/>
                </a:solidFill>
              </a:defRPr>
            </a:pPr>
            <a:r>
              <a:rPr sz="1350">
                <a:solidFill>
                  <a:srgbClr val="142033"/>
                </a:solidFill>
              </a:rPr>
              <a:t>Padding cells do not consume FIFO bytes.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5A4C32F-D20B-4C67-A8A3-91B61A6F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572000"/>
            <a:ext cx="6515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142033"/>
                </a:solidFill>
              </a:defRPr>
            </a:pPr>
            <a:r>
              <a:rPr sz="1350">
                <a:solidFill>
                  <a:srgbClr val="142033"/>
                </a:solidFill>
              </a:rPr>
              <a:t>Real cells stall until valid_in is present.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1F197D1-E750-4A66-BCB3-EEF50D96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876800"/>
            <a:ext cx="6515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142033"/>
                </a:solidFill>
              </a:defRPr>
            </a:pPr>
            <a:r>
              <a:rPr sz="1350">
                <a:solidFill>
                  <a:srgbClr val="142033"/>
                </a:solidFill>
              </a:rPr>
              <a:t>The line buffer owns the exact pacing contract for the core.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9866EA3-1D14-4C67-9717-B3A0DCA2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1791" y="5463064"/>
            <a:ext cx="6889909" cy="1518285"/>
          </a:xfrm>
          <a:prstGeom xmlns:a="http://schemas.openxmlformats.org/drawingml/2006/main" prst="roundRect">
            <a:avLst>
              <a:gd name="adj" fmla="val 7528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E1A821F-759D-48BA-9FAD-8E28D833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657850"/>
            <a:ext cx="6515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033"/>
                </a:solidFill>
              </a:defRPr>
            </a:pPr>
            <a:r>
              <a:rPr sz="1800" b="1">
                <a:solidFill>
                  <a:srgbClr val="142033"/>
                </a:solidFill>
              </a:rPr>
              <a:t>When does lb_valid_out rise?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94DB9FF-A32C-4EC9-991C-AF655E83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000750"/>
            <a:ext cx="6515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142033"/>
                </a:solidFill>
              </a:defRPr>
            </a:pPr>
            <a:r>
              <a:rPr sz="1350">
                <a:solidFill>
                  <a:srgbClr val="142033"/>
                </a:solidFill>
              </a:rPr>
              <a:t>Only after enough state exists to define a legal output center.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DB42AF6-D7FE-4814-AB50-A2AA3ECD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05550"/>
            <a:ext cx="6515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142033"/>
                </a:solidFill>
              </a:defRPr>
            </a:pPr>
            <a:r>
              <a:rPr sz="1350">
                <a:solidFill>
                  <a:srgbClr val="142033"/>
                </a:solidFill>
              </a:rPr>
              <a:t>For stride_2, output_valid_check keeps only even center_r / center_c locations.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1E75427-0DE1-457C-90FE-9FF59F94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610350"/>
            <a:ext cx="6515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142033"/>
                </a:solidFill>
              </a:defRPr>
            </a:pPr>
            <a:r>
              <a:rPr sz="1350">
                <a:solidFill>
                  <a:srgbClr val="142033"/>
                </a:solidFill>
              </a:rPr>
              <a:t>For this DW wrapper, bypass_1x1 is 0, so the full 3x3 path is always used.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1A37287-6712-4ED1-957C-51F77B9D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1791" y="7190899"/>
            <a:ext cx="6889909" cy="1215390"/>
          </a:xfrm>
          <a:prstGeom xmlns:a="http://schemas.openxmlformats.org/drawingml/2006/main" prst="roundRect">
            <a:avLst>
              <a:gd name="adj" fmla="val 9404"/>
            </a:avLst>
          </a:prstGeom>
          <a:solidFill xmlns:a="http://schemas.openxmlformats.org/drawingml/2006/main">
            <a:srgbClr val="F6E3D1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FCE5369-9CDE-459C-B681-9A645670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7372350"/>
            <a:ext cx="6515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033"/>
                </a:solidFill>
              </a:defRPr>
            </a:pPr>
            <a:r>
              <a:rPr sz="1800" b="1">
                <a:solidFill>
                  <a:srgbClr val="142033"/>
                </a:solidFill>
              </a:rPr>
              <a:t>Internal done signal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F839FA-DF29-4568-9BCE-075555DB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7715250"/>
            <a:ext cx="6515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142033"/>
                </a:solidFill>
              </a:defRPr>
            </a:pPr>
            <a:r>
              <a:rPr sz="1350">
                <a:solidFill>
                  <a:srgbClr val="142033"/>
                </a:solidFill>
              </a:rPr>
              <a:t>line_buffer done_out pulses when the final padded coordinate is processed.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EE5323F-B570-4F29-A1C4-ABA51229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8020050"/>
            <a:ext cx="6515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142033"/>
                </a:solidFill>
              </a:defRPr>
            </a:pPr>
            <a:r>
              <a:rPr sz="1350">
                <a:solidFill>
                  <a:srgbClr val="142033"/>
                </a:solidFill>
              </a:rPr>
              <a:t>That is a core-completion event, not the same thing as the wrapper's stream completion.</a:t>
            </a:r>
          </a:p>
        </p:txBody>
      </p:sp>
      <p:sp>
        <p:nvSpPr>
          <p:cNvPr id="58" name="source">
            <a:extLst xmlns:a="http://schemas.openxmlformats.org/drawingml/2006/main">
              <a:ext uri="{FF2B5EF4-FFF2-40B4-BE49-F238E27FC236}">
                <a16:creationId xmlns:a16="http://schemas.microsoft.com/office/drawing/2014/main" id="{1E579418-0D68-49E9-8F63-194EA1F0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486900"/>
            <a:ext cx="165354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C6777"/>
                </a:solidFill>
              </a:defRPr>
            </a:pPr>
            <a:r>
              <a:rPr sz="975">
                <a:solidFill>
                  <a:srgbClr val="5C6777"/>
                </a:solidFill>
              </a:rPr>
              <a:t>Verified against line_buffer.sv: padded virtual image generation, consume_in semantics, output_valid_check, and line RAM update order.</a:t>
            </a:r>
          </a:p>
        </p:txBody>
      </p:sp>
    </p:spTree>
    <p:extLst>
      <p:ext uri="{BB962C8B-B14F-4D97-AF65-F5344CB8AC3E}">
        <p14:creationId xmlns:p14="http://schemas.microsoft.com/office/powerpoint/2010/main" val="208551113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5771C8-8993-4F29-A8D2-9C9A06AE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6"/>
          </a:solidFill>
          <a:ln xmlns:a="http://schemas.openxmlformats.org/drawingml/2006/main" w="0">
            <a:solidFill>
              <a:srgbClr val="F5F0E6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892CB6F-1D07-4A88-AD44-B7C89530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85800"/>
            <a:ext cx="150685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033"/>
                </a:solidFill>
              </a:defRPr>
            </a:pPr>
            <a:r>
              <a:rPr sz="3600" b="1">
                <a:solidFill>
                  <a:srgbClr val="142033"/>
                </a:solidFill>
              </a:rPr>
              <a:t>conv_mac_array performs the actual depthwise convolution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1A9A534-DBE9-42CC-BB23-E7C26379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38250"/>
            <a:ext cx="9886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>
                <a:solidFill>
                  <a:srgbClr val="5C6777"/>
                </a:solidFill>
              </a:defRPr>
            </a:pPr>
            <a:r>
              <a:rPr sz="1875">
                <a:solidFill>
                  <a:srgbClr val="5C6777"/>
                </a:solidFill>
              </a:rPr>
              <a:t>For DW mode the block uses all nine taps, subtracts zp_in per activation, and ignores psum_in entirely.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B9A343-53AE-4640-BA29-924F3314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641" y="685800"/>
            <a:ext cx="1238059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7FA"/>
          </a:solidFill>
          <a:ln xmlns:a="http://schemas.openxmlformats.org/drawingml/2006/main" w="0">
            <a:solidFill>
              <a:srgbClr val="DCE7F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DA2BFE-1656-48E2-BCDD-312C546E2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4900" y="781050"/>
            <a:ext cx="895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33"/>
                </a:solidFill>
              </a:defRPr>
            </a:pPr>
            <a:r>
              <a:rPr sz="1350" b="1">
                <a:solidFill>
                  <a:srgbClr val="142033"/>
                </a:solidFill>
              </a:rPr>
              <a:t>2-stage MAC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A51389-AC00-4550-B94C-91E21C4E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339806-C16A-43AE-A19A-F208E562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88344"/>
            <a:ext cx="7700486" cy="7222331"/>
          </a:xfrm>
          <a:prstGeom xmlns:a="http://schemas.openxmlformats.org/drawingml/2006/main" prst="roundRect">
            <a:avLst>
              <a:gd name="adj" fmla="val 1583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BBF790-3E8F-47A0-B8E0-F64A3724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7900"/>
            <a:ext cx="7162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033"/>
                </a:solidFill>
              </a:defRPr>
            </a:pPr>
            <a:r>
              <a:rPr sz="2250" b="1">
                <a:solidFill>
                  <a:srgbClr val="142033"/>
                </a:solidFill>
              </a:rPr>
              <a:t>Depthwise datapath equation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1B3AAA-353D-400B-A1B5-5BE56E7E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05100"/>
            <a:ext cx="6972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0F766E"/>
                </a:solidFill>
              </a:defRPr>
            </a:pPr>
            <a:r>
              <a:rPr sz="2100">
                <a:solidFill>
                  <a:srgbClr val="0F766E"/>
                </a:solidFill>
              </a:rPr>
              <a:t>mac_out = sum over 3x3 [ (window[r][c] - zp_in) * weights[r][c] 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FD03BE-CA4E-4415-99B1-AA13AB11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71628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142033"/>
                </a:solidFill>
              </a:defRPr>
            </a:pPr>
            <a:r>
              <a:rPr sz="1650">
                <a:solidFill>
                  <a:srgbClr val="142033"/>
                </a:solidFill>
              </a:rPr>
              <a:t>The pointwise accumulation path exists in the shared module, but the DW wrapper forces is_depthwise = 1 and psum_clear = 1, so the partial-sum path is logically bypassed.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2DE5CB-A301-4357-8BBD-F524B5E6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25932"/>
            <a:ext cx="17018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E4EEF9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298E42-CA5B-442B-A0B9-DA37C485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57700"/>
            <a:ext cx="1562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2033"/>
                </a:solidFill>
              </a:defRPr>
            </a:pPr>
            <a:r>
              <a:rPr sz="1500" b="1">
                <a:solidFill>
                  <a:srgbClr val="142033"/>
                </a:solidFill>
              </a:rPr>
              <a:t>(w00 - zp) * k00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370178-3667-416D-A716-78AC66DC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100" y="4025932"/>
            <a:ext cx="17018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E4EEF9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863FDE-E66E-433D-A901-EE6A4E34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457700"/>
            <a:ext cx="1562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2033"/>
                </a:solidFill>
              </a:defRPr>
            </a:pPr>
            <a:r>
              <a:rPr sz="1500" b="1">
                <a:solidFill>
                  <a:srgbClr val="142033"/>
                </a:solidFill>
              </a:rPr>
              <a:t>(w01 - zp) * k01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5EB452-0467-493F-B7AC-6DFE79EF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5200" y="4025932"/>
            <a:ext cx="17018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E4EEF9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893C2B-A21B-487D-8F46-43B2127B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457700"/>
            <a:ext cx="1562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2033"/>
                </a:solidFill>
              </a:defRPr>
            </a:pPr>
            <a:r>
              <a:rPr sz="1500" b="1">
                <a:solidFill>
                  <a:srgbClr val="142033"/>
                </a:solidFill>
              </a:rPr>
              <a:t>(w02 - zp) * k02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B35EF8-6C6D-4F8D-A381-A9484DED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07032"/>
            <a:ext cx="17018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E4EEF9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F200C4-D0B2-48CB-A70E-9AF4B4BB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38800"/>
            <a:ext cx="1562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2033"/>
                </a:solidFill>
              </a:defRPr>
            </a:pPr>
            <a:r>
              <a:rPr sz="1500" b="1">
                <a:solidFill>
                  <a:srgbClr val="142033"/>
                </a:solidFill>
              </a:rPr>
              <a:t>(w10 - zp) * k10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D1EB5E-B320-497E-B309-CBF4E0B8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100" y="5207032"/>
            <a:ext cx="17018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D9F0EC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07CCB1-835E-4EE1-A868-ED9BC10A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638800"/>
            <a:ext cx="1562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2033"/>
                </a:solidFill>
              </a:defRPr>
            </a:pPr>
            <a:r>
              <a:rPr sz="1500" b="1">
                <a:solidFill>
                  <a:srgbClr val="142033"/>
                </a:solidFill>
              </a:rPr>
              <a:t>(w11 - zp) * k11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0D66DB-C5AE-4BFA-A7D0-30DE5852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5200" y="5207032"/>
            <a:ext cx="17018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E4EEF9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6BF3D4-9749-4883-AA8A-9D434779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638800"/>
            <a:ext cx="1562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2033"/>
                </a:solidFill>
              </a:defRPr>
            </a:pPr>
            <a:r>
              <a:rPr sz="1500" b="1">
                <a:solidFill>
                  <a:srgbClr val="142033"/>
                </a:solidFill>
              </a:rPr>
              <a:t>(w12 - zp) * k12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37CC04-9022-4F40-A8B8-BA1A4BBB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388132"/>
            <a:ext cx="17018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E4EEF9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18E7DB-A73E-4CC8-A4D2-24746312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19900"/>
            <a:ext cx="1562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2033"/>
                </a:solidFill>
              </a:defRPr>
            </a:pPr>
            <a:r>
              <a:rPr sz="1500" b="1">
                <a:solidFill>
                  <a:srgbClr val="142033"/>
                </a:solidFill>
              </a:rPr>
              <a:t>(w20 - zp) * k20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637474-9D4E-4F73-8609-5E672ED7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100" y="6388132"/>
            <a:ext cx="17018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E4EEF9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6D3338-D6A3-4617-B894-A3D82169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819900"/>
            <a:ext cx="1562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2033"/>
                </a:solidFill>
              </a:defRPr>
            </a:pPr>
            <a:r>
              <a:rPr sz="1500" b="1">
                <a:solidFill>
                  <a:srgbClr val="142033"/>
                </a:solidFill>
              </a:rPr>
              <a:t>(w21 - zp) * k21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74451B-23A6-4E86-ADC4-E01D0BE6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5200" y="6388132"/>
            <a:ext cx="17018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E4EEF9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2A5725-5538-4D89-AE08-AAF6D911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819900"/>
            <a:ext cx="1562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2033"/>
                </a:solidFill>
              </a:defRPr>
            </a:pPr>
            <a:r>
              <a:rPr sz="1500" b="1">
                <a:solidFill>
                  <a:srgbClr val="142033"/>
                </a:solidFill>
              </a:rPr>
              <a:t>(w22 - zp) * k22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E2E0D0-A843-4ED5-A889-38C75697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0636" y="1988344"/>
            <a:ext cx="8511064" cy="1518285"/>
          </a:xfrm>
          <a:prstGeom xmlns:a="http://schemas.openxmlformats.org/drawingml/2006/main" prst="roundRect">
            <a:avLst>
              <a:gd name="adj" fmla="val 7528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311220-EC41-4FD1-8259-310BD5EE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71700"/>
            <a:ext cx="813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033"/>
                </a:solidFill>
              </a:defRPr>
            </a:pPr>
            <a:r>
              <a:rPr sz="1800" b="1">
                <a:solidFill>
                  <a:srgbClr val="142033"/>
                </a:solidFill>
              </a:rPr>
              <a:t>Stage 1: registered products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45B3E2-6679-43A5-8911-307F05C9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14600"/>
            <a:ext cx="813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142033"/>
                </a:solidFill>
              </a:defRPr>
            </a:pPr>
            <a:r>
              <a:rPr sz="1350">
                <a:solidFill>
                  <a:srgbClr val="142033"/>
                </a:solidFill>
              </a:rPr>
              <a:t>Nine signed 18-bit product registers p00_r ... p22_r are captured in always_ff.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C13CC3-17A0-4A42-A7BE-713A0C8E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19400"/>
            <a:ext cx="813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142033"/>
                </a:solidFill>
              </a:defRPr>
            </a:pPr>
            <a:r>
              <a:rPr sz="1350">
                <a:solidFill>
                  <a:srgbClr val="142033"/>
                </a:solidFill>
              </a:rPr>
              <a:t>This maps naturally onto DSP multiply registers rather than leaving all products combinational.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669BF6-FD07-4D22-A1C2-BA3ABAC5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24200"/>
            <a:ext cx="813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142033"/>
                </a:solidFill>
              </a:defRPr>
            </a:pPr>
            <a:r>
              <a:rPr sz="1350">
                <a:solidFill>
                  <a:srgbClr val="142033"/>
                </a:solidFill>
              </a:rPr>
              <a:t>valid_s1, is_dw_s1, psum_clear_s1, and psum_in_s1 pipeline the control alongside the data.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7423BF-BC7E-4D65-B0AF-230211D8A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0636" y="3716179"/>
            <a:ext cx="8511064" cy="1518285"/>
          </a:xfrm>
          <a:prstGeom xmlns:a="http://schemas.openxmlformats.org/drawingml/2006/main" prst="roundRect">
            <a:avLst>
              <a:gd name="adj" fmla="val 7528"/>
            </a:avLst>
          </a:prstGeom>
          <a:solidFill xmlns:a="http://schemas.openxmlformats.org/drawingml/2006/main">
            <a:srgbClr val="DCE7FA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80DC7E3-D64E-4D70-8207-0C5DA859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905250"/>
            <a:ext cx="813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033"/>
                </a:solidFill>
              </a:defRPr>
            </a:pPr>
            <a:r>
              <a:rPr sz="1800" b="1">
                <a:solidFill>
                  <a:srgbClr val="142033"/>
                </a:solidFill>
              </a:rPr>
              <a:t>Stage 2: balanced adder tree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976FC0-B758-44B1-8CB5-ABE6B045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248150"/>
            <a:ext cx="813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142033"/>
                </a:solidFill>
              </a:defRPr>
            </a:pPr>
            <a:r>
              <a:rPr sz="1350">
                <a:solidFill>
                  <a:srgbClr val="142033"/>
                </a:solidFill>
              </a:rPr>
              <a:t>Products are grouped into s0 ... s4 and then reduced into tree_sum.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81F57E1-C6F8-47BE-A77F-53D8E741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552950"/>
            <a:ext cx="813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142033"/>
                </a:solidFill>
              </a:defRPr>
            </a:pPr>
            <a:r>
              <a:rPr sz="1350">
                <a:solidFill>
                  <a:srgbClr val="142033"/>
                </a:solidFill>
              </a:rPr>
              <a:t>For DW, mac_next = tree_sum.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A807833-18AC-41F0-B32C-E9161715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857750"/>
            <a:ext cx="813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142033"/>
                </a:solidFill>
              </a:defRPr>
            </a:pPr>
            <a:r>
              <a:rPr sz="1350">
                <a:solidFill>
                  <a:srgbClr val="142033"/>
                </a:solidFill>
              </a:rPr>
              <a:t>For non-DW, only p11_r is used and psum_in can be accumulated.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0C2872C-18F0-4581-A6A3-A36FFB09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0636" y="5444014"/>
            <a:ext cx="8511064" cy="1518285"/>
          </a:xfrm>
          <a:prstGeom xmlns:a="http://schemas.openxmlformats.org/drawingml/2006/main" prst="roundRect">
            <a:avLst>
              <a:gd name="adj" fmla="val 7528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A8B2613-4938-4C69-A944-90937499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638800"/>
            <a:ext cx="813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033"/>
                </a:solidFill>
              </a:defRPr>
            </a:pPr>
            <a:r>
              <a:rPr sz="1800" b="1">
                <a:solidFill>
                  <a:srgbClr val="142033"/>
                </a:solidFill>
              </a:rPr>
              <a:t>Pipeline meaning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649DA2F-2F7D-4A30-AC77-1303B530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981700"/>
            <a:ext cx="813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142033"/>
                </a:solidFill>
              </a:defRPr>
            </a:pPr>
            <a:r>
              <a:rPr sz="1350">
                <a:solidFill>
                  <a:srgbClr val="142033"/>
                </a:solidFill>
              </a:rPr>
              <a:t>lb_valid_out marks a valid 3x3 window.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3043499-DA93-4F42-8D7B-2105F9F3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6286500"/>
            <a:ext cx="813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142033"/>
                </a:solidFill>
              </a:defRPr>
            </a:pPr>
            <a:r>
              <a:rPr sz="1350">
                <a:solidFill>
                  <a:srgbClr val="142033"/>
                </a:solidFill>
              </a:rPr>
              <a:t>mac_valid_out appears after the product-register stage and output-register stage have done their work.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CA4DEAC-5A94-440F-B147-97FD5D83C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6591300"/>
            <a:ext cx="813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142033"/>
                </a:solidFill>
              </a:defRPr>
            </a:pPr>
            <a:r>
              <a:rPr sz="1350">
                <a:solidFill>
                  <a:srgbClr val="142033"/>
                </a:solidFill>
              </a:rPr>
              <a:t>The design is throughput-oriented: once windows arrive regularly, a new MAC result can emerge every cycle.</a:t>
            </a:r>
          </a:p>
        </p:txBody>
      </p:sp>
      <p:sp>
        <p:nvSpPr>
          <p:cNvPr id="44" name="source">
            <a:extLst xmlns:a="http://schemas.openxmlformats.org/drawingml/2006/main">
              <a:ext uri="{FF2B5EF4-FFF2-40B4-BE49-F238E27FC236}">
                <a16:creationId xmlns:a16="http://schemas.microsoft.com/office/drawing/2014/main" id="{2A7A77A1-1F6A-4495-B31D-B4ADDDAC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486900"/>
            <a:ext cx="165354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C6777"/>
                </a:solidFill>
              </a:defRPr>
            </a:pPr>
            <a:r>
              <a:rPr sz="975">
                <a:solidFill>
                  <a:srgbClr val="5C6777"/>
                </a:solidFill>
              </a:rPr>
              <a:t>Verified against conv_mac_array.sv: depthwise tap selection, registered products, balanced adder tree, and psum handling.</a:t>
            </a:r>
          </a:p>
        </p:txBody>
      </p:sp>
    </p:spTree>
    <p:extLst>
      <p:ext uri="{BB962C8B-B14F-4D97-AF65-F5344CB8AC3E}">
        <p14:creationId xmlns:p14="http://schemas.microsoft.com/office/powerpoint/2010/main" val="126953287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5F93DB-51A0-4B5F-B392-F868651F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6"/>
          </a:solidFill>
          <a:ln xmlns:a="http://schemas.openxmlformats.org/drawingml/2006/main" w="0">
            <a:solidFill>
              <a:srgbClr val="F5F0E6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AC0C52D-617C-4518-B5D9-B8D4BA48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85800"/>
            <a:ext cx="143065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033"/>
                </a:solidFill>
              </a:defRPr>
            </a:pPr>
            <a:r>
              <a:rPr sz="3600" b="1">
                <a:solidFill>
                  <a:srgbClr val="142033"/>
                </a:solidFill>
              </a:rPr>
              <a:t>PPU converts accumulator output back to 8-bit pixels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7D8B590-A5D1-4691-BA26-09A9385C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38250"/>
            <a:ext cx="11029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>
                <a:solidFill>
                  <a:srgbClr val="5C6777"/>
                </a:solidFill>
              </a:defRPr>
            </a:pPr>
            <a:r>
              <a:rPr sz="1875">
                <a:solidFill>
                  <a:srgbClr val="5C6777"/>
                </a:solidFill>
              </a:rPr>
              <a:t>In the DW wrapper the residual path is disabled, but the shared PPU still carries both conv and residual machinery.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F14D7C-E09B-4EE0-B623-6028088C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04402" y="685800"/>
            <a:ext cx="2007298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E3D1"/>
          </a:solidFill>
          <a:ln xmlns:a="http://schemas.openxmlformats.org/drawingml/2006/main" w="0">
            <a:solidFill>
              <a:srgbClr val="F6E3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E82D9F-ABC5-405F-BD56-5C92C903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2900" y="781050"/>
            <a:ext cx="1657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33"/>
                </a:solidFill>
              </a:defRPr>
            </a:pPr>
            <a:r>
              <a:rPr sz="1350" b="1">
                <a:solidFill>
                  <a:srgbClr val="142033"/>
                </a:solidFill>
              </a:rPr>
              <a:t>4-stage post-processing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4BB30E-246B-473B-95E9-9A773F8E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54109A-ADF5-4703-9F53-F0B8B57F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88344"/>
            <a:ext cx="3976688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0">
            <a:solidFill>
              <a:srgbClr val="FFF9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D5491F-0023-45C4-8282-943D1863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7900"/>
            <a:ext cx="3448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033"/>
                </a:solidFill>
              </a:defRPr>
            </a:pPr>
            <a:r>
              <a:rPr sz="3150" b="1">
                <a:solidFill>
                  <a:srgbClr val="142033"/>
                </a:solidFill>
              </a:rPr>
              <a:t>Stage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4656DF-3EED-4AF6-B9A8-5304242E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3448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C6777"/>
                </a:solidFill>
              </a:defRPr>
            </a:pPr>
            <a:r>
              <a:rPr sz="1500">
                <a:solidFill>
                  <a:srgbClr val="5C6777"/>
                </a:solidFill>
              </a:rPr>
              <a:t>acc + bias, then multiply by mult_conv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AA6A5F-F979-42E2-90B2-B70424E5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538" y="1988344"/>
            <a:ext cx="3976688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D9F0EC"/>
          </a:solidFill>
          <a:ln xmlns:a="http://schemas.openxmlformats.org/drawingml/2006/main" w="0">
            <a:solidFill>
              <a:srgbClr val="D9F0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586B4A-98DD-47B3-AA30-E20FAE8D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47900"/>
            <a:ext cx="3448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033"/>
                </a:solidFill>
              </a:defRPr>
            </a:pPr>
            <a:r>
              <a:rPr sz="3150" b="1">
                <a:solidFill>
                  <a:srgbClr val="142033"/>
                </a:solidFill>
              </a:rPr>
              <a:t>Stage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1BA582-1C14-46EC-AF77-57F4FC1B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62500"/>
            <a:ext cx="34480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C6777"/>
                </a:solidFill>
              </a:defRPr>
            </a:pPr>
            <a:r>
              <a:rPr sz="1500">
                <a:solidFill>
                  <a:srgbClr val="5C6777"/>
                </a:solidFill>
              </a:rPr>
              <a:t>absolute value, sign extraction, path selection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138FE2-0A98-4481-BECF-DBD55FDF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1988344"/>
            <a:ext cx="3976688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E3D1"/>
          </a:solidFill>
          <a:ln xmlns:a="http://schemas.openxmlformats.org/drawingml/2006/main" w="0">
            <a:solidFill>
              <a:srgbClr val="F6E3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936792-C8CA-4BAE-B79C-62274FA9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47900"/>
            <a:ext cx="3448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033"/>
                </a:solidFill>
              </a:defRPr>
            </a:pPr>
            <a:r>
              <a:rPr sz="3150" b="1">
                <a:solidFill>
                  <a:srgbClr val="142033"/>
                </a:solidFill>
              </a:rPr>
              <a:t>Stage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F99F1F-26F9-4947-8A09-032F3D7E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62500"/>
            <a:ext cx="34480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C6777"/>
                </a:solidFill>
              </a:defRPr>
            </a:pPr>
            <a:r>
              <a:rPr sz="1500">
                <a:solidFill>
                  <a:srgbClr val="5C6777"/>
                </a:solidFill>
              </a:rPr>
              <a:t>right shift with ties-to-even rounding, sign restore, zp_out add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4F2990-AA62-49F0-B38E-8735F366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5013" y="1988344"/>
            <a:ext cx="3976688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0">
            <a:solidFill>
              <a:srgbClr val="FFF9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F7BA71-9A3A-42E3-A0B9-BD61484A1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2247900"/>
            <a:ext cx="3448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033"/>
                </a:solidFill>
              </a:defRPr>
            </a:pPr>
            <a:r>
              <a:rPr sz="3150" b="1">
                <a:solidFill>
                  <a:srgbClr val="142033"/>
                </a:solidFill>
              </a:rPr>
              <a:t>Stage 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D55151-611B-4886-BF63-B963935E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4762500"/>
            <a:ext cx="34480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C6777"/>
                </a:solidFill>
              </a:defRPr>
            </a:pPr>
            <a:r>
              <a:rPr sz="1500">
                <a:solidFill>
                  <a:srgbClr val="5C6777"/>
                </a:solidFill>
              </a:rPr>
              <a:t>clamp to [0,255], then optional ReLU floor at zp_out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05DE09-9724-4767-B801-9DF84B4A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84044"/>
            <a:ext cx="8916353" cy="3526631"/>
          </a:xfrm>
          <a:prstGeom xmlns:a="http://schemas.openxmlformats.org/drawingml/2006/main" prst="roundRect">
            <a:avLst>
              <a:gd name="adj" fmla="val 3241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6F8603-7534-446C-94B4-8CC198B3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43600"/>
            <a:ext cx="8382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033"/>
                </a:solidFill>
              </a:defRPr>
            </a:pPr>
            <a:r>
              <a:rPr sz="2100" b="1">
                <a:solidFill>
                  <a:srgbClr val="142033"/>
                </a:solidFill>
              </a:rPr>
              <a:t>Quantization equation, conceptually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2143E8-BAA3-4EC2-9229-F0B92197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362700"/>
            <a:ext cx="8324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F766E"/>
                </a:solidFill>
              </a:defRPr>
            </a:pPr>
            <a:r>
              <a:rPr sz="1950">
                <a:solidFill>
                  <a:srgbClr val="0F766E"/>
                </a:solidFill>
              </a:rPr>
              <a:t>q = RoundTiesToEven( (conv_acc_in + bias_in) * mult_conv &gt;&gt; shift_conv ) + zp_out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D3F635-CCF8-46C6-A9D8-938B82CD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762750"/>
            <a:ext cx="8382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>
                <a:solidFill>
                  <a:srgbClr val="142033"/>
                </a:solidFill>
              </a:defRPr>
            </a:pPr>
            <a:r>
              <a:rPr sz="1650">
                <a:solidFill>
                  <a:srgbClr val="142033"/>
                </a:solidFill>
              </a:rPr>
              <a:t>The hardware separates sign handling from magnitude handling. Stage 2 forms an absolute-value path, stage 3 performs the barrel shift and rounding on magnitude, then the sign is restored before zero-point addition.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E37915-6A4E-4F7F-8940-A9EDA74D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639050"/>
            <a:ext cx="7334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96B1B"/>
                </a:solidFill>
              </a:defRPr>
            </a:pPr>
            <a:r>
              <a:rPr sz="1650" b="1">
                <a:solidFill>
                  <a:srgbClr val="C96B1B"/>
                </a:solidFill>
              </a:rPr>
              <a:t>That split matters because the 68-bit negate and shift logic is one of the architectural hotspots in the local timing analysis.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FB8737-D9EF-47B9-95A2-65BE9481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6503" y="5684044"/>
            <a:ext cx="7295198" cy="1518285"/>
          </a:xfrm>
          <a:prstGeom xmlns:a="http://schemas.openxmlformats.org/drawingml/2006/main" prst="roundRect">
            <a:avLst>
              <a:gd name="adj" fmla="val 7528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B644FF-AC43-4AD8-BB7B-F85FFA07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5867400"/>
            <a:ext cx="6915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033"/>
                </a:solidFill>
              </a:defRPr>
            </a:pPr>
            <a:r>
              <a:rPr sz="1800" b="1">
                <a:solidFill>
                  <a:srgbClr val="142033"/>
                </a:solidFill>
              </a:rPr>
              <a:t>Residual path status in DW mode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52B29C-B0B3-4BF1-9FE7-A8CD5ECC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210300"/>
            <a:ext cx="6915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142033"/>
                </a:solidFill>
              </a:defRPr>
            </a:pPr>
            <a:r>
              <a:rPr sz="1350">
                <a:solidFill>
                  <a:srgbClr val="142033"/>
                </a:solidFill>
              </a:rPr>
              <a:t>mode_residual = 0 in the DW wrapper.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CFDF80-1CFE-4138-8F88-22CE747E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515100"/>
            <a:ext cx="6915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142033"/>
                </a:solidFill>
              </a:defRPr>
            </a:pPr>
            <a:r>
              <a:rPr sz="1350">
                <a:solidFill>
                  <a:srgbClr val="142033"/>
                </a:solidFill>
              </a:rPr>
              <a:t>res_a_in, res_b_in, mult_res_a, mult_res_b, shift_res, zp_in_a, and zp_in_b are tied off.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F4743A-60A2-4A5B-B4A2-34B1F01E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819900"/>
            <a:ext cx="6915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142033"/>
                </a:solidFill>
              </a:defRPr>
            </a:pPr>
            <a:r>
              <a:rPr sz="1350">
                <a:solidFill>
                  <a:srgbClr val="142033"/>
                </a:solidFill>
              </a:rPr>
              <a:t>So ppu_trigger follows mac_valid_out, not raw valid_in.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7B3E92-6D6D-4EB1-9F79-CDA5B9D2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6503" y="7392829"/>
            <a:ext cx="7295198" cy="1215390"/>
          </a:xfrm>
          <a:prstGeom xmlns:a="http://schemas.openxmlformats.org/drawingml/2006/main" prst="roundRect">
            <a:avLst>
              <a:gd name="adj" fmla="val 9404"/>
            </a:avLst>
          </a:prstGeom>
          <a:solidFill xmlns:a="http://schemas.openxmlformats.org/drawingml/2006/main">
            <a:srgbClr val="D9F0EC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9A1BAA-B9C8-4554-A910-7AB61C13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7581900"/>
            <a:ext cx="6915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033"/>
                </a:solidFill>
              </a:defRPr>
            </a:pPr>
            <a:r>
              <a:rPr sz="1800" b="1">
                <a:solidFill>
                  <a:srgbClr val="142033"/>
                </a:solidFill>
              </a:rPr>
              <a:t>ReLU status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DBB8C8-9A1C-4495-A721-75E5736B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7924800"/>
            <a:ext cx="6915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142033"/>
                </a:solidFill>
              </a:defRPr>
            </a:pPr>
            <a:r>
              <a:rPr sz="1350">
                <a:solidFill>
                  <a:srgbClr val="142033"/>
                </a:solidFill>
              </a:rPr>
              <a:t>relu_en = 0 in dw_plane_run_axis.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7062D7-F503-4BAD-8798-99DA8694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8229600"/>
            <a:ext cx="6915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142033"/>
                </a:solidFill>
              </a:defRPr>
            </a:pPr>
            <a:r>
              <a:rPr sz="1350">
                <a:solidFill>
                  <a:srgbClr val="142033"/>
                </a:solidFill>
              </a:rPr>
              <a:t>The ReLU hardware still exists in the shared PPU, but it is inactive for this DW shell instance.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701BDA-53BD-4668-811F-DA393A73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6503" y="8798719"/>
            <a:ext cx="7295198" cy="1215390"/>
          </a:xfrm>
          <a:prstGeom xmlns:a="http://schemas.openxmlformats.org/drawingml/2006/main" prst="roundRect">
            <a:avLst>
              <a:gd name="adj" fmla="val 9404"/>
            </a:avLst>
          </a:prstGeom>
          <a:solidFill xmlns:a="http://schemas.openxmlformats.org/drawingml/2006/main">
            <a:srgbClr val="F6E3D1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16E977-56A5-4B17-BAAF-2BD469E3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8991600"/>
            <a:ext cx="6915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033"/>
                </a:solidFill>
              </a:defRPr>
            </a:pPr>
            <a:r>
              <a:rPr sz="1800" b="1">
                <a:solidFill>
                  <a:srgbClr val="142033"/>
                </a:solidFill>
              </a:rPr>
              <a:t>Output contract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EA43D2-28F0-43C8-92AD-C32C79F2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9334500"/>
            <a:ext cx="6915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142033"/>
                </a:solidFill>
              </a:defRPr>
            </a:pPr>
            <a:r>
              <a:rPr sz="1350">
                <a:solidFill>
                  <a:srgbClr val="142033"/>
                </a:solidFill>
              </a:rPr>
              <a:t>PPU valid_out only means a quantized pixel exists for the wrapper.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BA4576-EF5E-4B84-B960-3DC2A4B9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9639300"/>
            <a:ext cx="6915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142033"/>
                </a:solidFill>
              </a:defRPr>
            </a:pPr>
            <a:r>
              <a:rPr sz="1350">
                <a:solidFill>
                  <a:srgbClr val="142033"/>
                </a:solidFill>
              </a:rPr>
              <a:t>The wrapper still has to store it, tag tlast, and wait for AXI acceptance.</a:t>
            </a:r>
          </a:p>
        </p:txBody>
      </p:sp>
      <p:sp>
        <p:nvSpPr>
          <p:cNvPr id="37" name="source">
            <a:extLst xmlns:a="http://schemas.openxmlformats.org/drawingml/2006/main">
              <a:ext uri="{FF2B5EF4-FFF2-40B4-BE49-F238E27FC236}">
                <a16:creationId xmlns:a16="http://schemas.microsoft.com/office/drawing/2014/main" id="{4F609625-426F-4A76-B4D8-989AFAB5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486900"/>
            <a:ext cx="165354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C6777"/>
                </a:solidFill>
              </a:defRPr>
            </a:pPr>
            <a:r>
              <a:rPr sz="975">
                <a:solidFill>
                  <a:srgbClr val="5C6777"/>
                </a:solidFill>
              </a:rPr>
              <a:t>Verified against ppu.sv: 4-stage conv path, ties-to-even rounding, zero-point add, clamp, and ReLU gating.</a:t>
            </a:r>
          </a:p>
        </p:txBody>
      </p:sp>
    </p:spTree>
    <p:extLst>
      <p:ext uri="{BB962C8B-B14F-4D97-AF65-F5344CB8AC3E}">
        <p14:creationId xmlns:p14="http://schemas.microsoft.com/office/powerpoint/2010/main" val="49996757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7389E2-78D8-4ACB-B3AA-CE1F3454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6"/>
          </a:solidFill>
          <a:ln xmlns:a="http://schemas.openxmlformats.org/drawingml/2006/main" w="0">
            <a:solidFill>
              <a:srgbClr val="F5F0E6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386609-5C95-4A8E-88A4-7C59406F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85800"/>
            <a:ext cx="14439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033"/>
                </a:solidFill>
              </a:defRPr>
            </a:pPr>
            <a:r>
              <a:rPr sz="3600" b="1">
                <a:solidFill>
                  <a:srgbClr val="142033"/>
                </a:solidFill>
              </a:rPr>
              <a:t>Control timing: valid is not the same as done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8D533C5-BF60-4A26-B754-A836D48E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38250"/>
            <a:ext cx="11239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>
                <a:solidFill>
                  <a:srgbClr val="5C6777"/>
                </a:solidFill>
              </a:defRPr>
            </a:pPr>
            <a:r>
              <a:rPr sz="1875">
                <a:solidFill>
                  <a:srgbClr val="5C6777"/>
                </a:solidFill>
              </a:rPr>
              <a:t>The most defensible way to explain control is to follow one real pixel through the contracts that transform it into one accepted output beat.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88969E-66E9-41B1-BD04-1927933C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0610" y="685800"/>
            <a:ext cx="186109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0EC"/>
          </a:solidFill>
          <a:ln xmlns:a="http://schemas.openxmlformats.org/drawingml/2006/main" w="0">
            <a:solidFill>
              <a:srgbClr val="D9F0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229F5D-F808-40B1-9AB1-1500547E2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7810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33"/>
                </a:solidFill>
              </a:defRPr>
            </a:pPr>
            <a:r>
              <a:rPr sz="1350" b="1">
                <a:solidFill>
                  <a:srgbClr val="142033"/>
                </a:solidFill>
              </a:rPr>
              <a:t>handshake semantics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679F89-5E64-4FD8-9F4B-5B9EC48C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0CDA79-E20E-468A-90CC-6D881410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2188"/>
            <a:ext cx="16535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EF0AC5-FE38-49E0-A80E-D91EF76B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71800"/>
            <a:ext cx="1619250" cy="2000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4EEF9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F6A46A-E16D-4E4E-A35A-9357B0DE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43250"/>
            <a:ext cx="1276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33"/>
                </a:solidFill>
              </a:defRPr>
            </a:pPr>
            <a:r>
              <a:rPr sz="1350" b="1">
                <a:solidFill>
                  <a:srgbClr val="142033"/>
                </a:solidFill>
              </a:rPr>
              <a:t>1. in_push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996895-A4F1-46B7-85C5-EB2F1A8C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62450"/>
            <a:ext cx="12763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>
                <a:solidFill>
                  <a:srgbClr val="5C6777"/>
                </a:solidFill>
              </a:defRPr>
            </a:pPr>
            <a:r>
              <a:rPr sz="1050">
                <a:solidFill>
                  <a:srgbClr val="5C6777"/>
                </a:solidFill>
              </a:rPr>
              <a:t>s_axis_tvalid &amp;&amp; s_axis_tready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050">
                <a:solidFill>
                  <a:srgbClr val="5C6777"/>
                </a:solidFill>
              </a:defRPr>
            </a:pPr>
            <a:r>
              <a:rPr sz="1050">
                <a:solidFill>
                  <a:srgbClr val="5C6777"/>
                </a:solidFill>
              </a:rPr>
              <a:t>writes FIFO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362A5C-6F48-471A-9816-E6CD2FF5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0464" y="2971800"/>
            <a:ext cx="1619250" cy="2000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4EEF9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8DF7EF-7C92-4F97-82A5-50CF8D0D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43250"/>
            <a:ext cx="1276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33"/>
                </a:solidFill>
              </a:defRPr>
            </a:pPr>
            <a:r>
              <a:rPr sz="1350" b="1">
                <a:solidFill>
                  <a:srgbClr val="142033"/>
                </a:solidFill>
              </a:rPr>
              <a:t>2. valid_in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56C5FD-5A9F-46F3-B76A-45100BCB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14850"/>
            <a:ext cx="1276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>
                <a:solidFill>
                  <a:srgbClr val="5C6777"/>
                </a:solidFill>
              </a:defRPr>
            </a:pPr>
            <a:r>
              <a:rPr sz="1050">
                <a:solidFill>
                  <a:srgbClr val="5C6777"/>
                </a:solidFill>
              </a:rPr>
              <a:t>FIFO non-empty and not throttled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18D7DF-1C3C-4609-ABA3-66860D21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6029" y="2971800"/>
            <a:ext cx="1619250" cy="2000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D8EFE2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777166-83C9-4FD8-A64A-00602A64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143250"/>
            <a:ext cx="1276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33"/>
                </a:solidFill>
              </a:defRPr>
            </a:pPr>
            <a:r>
              <a:rPr sz="1350" b="1">
                <a:solidFill>
                  <a:srgbClr val="142033"/>
                </a:solidFill>
              </a:rPr>
              <a:t>3. consume_in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10F7E6-5BA4-481F-BF7A-90DCA89A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514850"/>
            <a:ext cx="1276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>
                <a:solidFill>
                  <a:srgbClr val="5C6777"/>
                </a:solidFill>
              </a:defRPr>
            </a:pPr>
            <a:r>
              <a:rPr sz="1050">
                <a:solidFill>
                  <a:srgbClr val="5C6777"/>
                </a:solidFill>
              </a:rPr>
              <a:t>line_buffer needs a real pixel now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00972D-BA68-4E9C-B88F-0DA75383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1593" y="2971800"/>
            <a:ext cx="1619250" cy="2000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D8EFE2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6641AA-2BA7-409A-B081-BFC2B729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143250"/>
            <a:ext cx="1276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33"/>
                </a:solidFill>
              </a:defRPr>
            </a:pPr>
            <a:r>
              <a:rPr sz="1350" b="1">
                <a:solidFill>
                  <a:srgbClr val="142033"/>
                </a:solidFill>
              </a:rPr>
              <a:t>4. lb_valid_out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904A8C-6244-4182-98B8-4C4F7E28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514850"/>
            <a:ext cx="1276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>
                <a:solidFill>
                  <a:srgbClr val="5C6777"/>
                </a:solidFill>
              </a:defRPr>
            </a:pPr>
            <a:r>
              <a:rPr sz="1050">
                <a:solidFill>
                  <a:srgbClr val="5C6777"/>
                </a:solidFill>
              </a:rPr>
              <a:t>A legal 3x3 center exists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D9A9AE-A78B-4B5F-BEA6-D1ECD432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7157" y="2971800"/>
            <a:ext cx="1619250" cy="2000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DCE7FA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206512-8CE6-46DC-9250-03E870D9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43250"/>
            <a:ext cx="1276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33"/>
                </a:solidFill>
              </a:defRPr>
            </a:pPr>
            <a:r>
              <a:rPr sz="1350" b="1">
                <a:solidFill>
                  <a:srgbClr val="142033"/>
                </a:solidFill>
              </a:rPr>
              <a:t>5. mac_valid_out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52C0D6-361B-4DA2-8406-D8BAEAB1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514850"/>
            <a:ext cx="1276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>
                <a:solidFill>
                  <a:srgbClr val="5C6777"/>
                </a:solidFill>
              </a:defRPr>
            </a:pPr>
            <a:r>
              <a:rPr sz="1050">
                <a:solidFill>
                  <a:srgbClr val="5C6777"/>
                </a:solidFill>
              </a:rPr>
              <a:t>The MAC pipeline has finished this window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5CBCAD-355F-42E8-B868-9B646099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2721" y="2971800"/>
            <a:ext cx="1619250" cy="2000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6E3D1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D0AD43-257E-4713-88A7-64214C05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143250"/>
            <a:ext cx="1276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33"/>
                </a:solidFill>
              </a:defRPr>
            </a:pPr>
            <a:r>
              <a:rPr sz="1350" b="1">
                <a:solidFill>
                  <a:srgbClr val="142033"/>
                </a:solidFill>
              </a:rPr>
              <a:t>6. valid_out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B38AF8-B819-4D6E-85CD-71E30290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514850"/>
            <a:ext cx="1276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>
                <a:solidFill>
                  <a:srgbClr val="5C6777"/>
                </a:solidFill>
              </a:defRPr>
            </a:pPr>
            <a:r>
              <a:rPr sz="1050">
                <a:solidFill>
                  <a:srgbClr val="5C6777"/>
                </a:solidFill>
              </a:rPr>
              <a:t>PPU has produced an 8-bit pixel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687352-2DA8-4D30-BCE1-4D4CB94D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8286" y="2971800"/>
            <a:ext cx="1619250" cy="2000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4EEF9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22ABB3-B2D0-471E-B497-2311D021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3143250"/>
            <a:ext cx="1276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33"/>
                </a:solidFill>
              </a:defRPr>
            </a:pPr>
            <a:r>
              <a:rPr sz="1350" b="1">
                <a:solidFill>
                  <a:srgbClr val="142033"/>
                </a:solidFill>
              </a:rPr>
              <a:t>7. out_push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14DFCE-B277-47DF-92F6-21C3CF76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4514850"/>
            <a:ext cx="1276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>
                <a:solidFill>
                  <a:srgbClr val="5C6777"/>
                </a:solidFill>
              </a:defRPr>
            </a:pPr>
            <a:r>
              <a:rPr sz="1050">
                <a:solidFill>
                  <a:srgbClr val="5C6777"/>
                </a:solidFill>
              </a:rPr>
              <a:t>Wrapper stores {tlast,data}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D1701F-479D-4A3F-80F4-BDB538140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3850" y="2971800"/>
            <a:ext cx="1619250" cy="2000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6E3D1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91C800-5628-4F78-A211-476F5CA4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3143250"/>
            <a:ext cx="1276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33"/>
                </a:solidFill>
              </a:defRPr>
            </a:pPr>
            <a:r>
              <a:rPr sz="1350" b="1">
                <a:solidFill>
                  <a:srgbClr val="142033"/>
                </a:solidFill>
              </a:rPr>
              <a:t>8. done_out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B86C87-D145-469B-9879-2220914D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4514850"/>
            <a:ext cx="1276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>
                <a:solidFill>
                  <a:srgbClr val="5C6777"/>
                </a:solidFill>
              </a:defRPr>
            </a:pPr>
            <a:r>
              <a:rPr sz="1050">
                <a:solidFill>
                  <a:srgbClr val="5C6777"/>
                </a:solidFill>
              </a:rPr>
              <a:t>Final beat is accepted on AXI output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9B4F87-794D-4986-9E1E-DB9BD72C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57888"/>
            <a:ext cx="5334000" cy="3252788"/>
          </a:xfrm>
          <a:prstGeom xmlns:a="http://schemas.openxmlformats.org/drawingml/2006/main" prst="roundRect">
            <a:avLst>
              <a:gd name="adj" fmla="val 3514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6C1814-5B03-4CC2-B93E-A8FB445E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153150"/>
            <a:ext cx="495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033"/>
                </a:solidFill>
              </a:defRPr>
            </a:pPr>
            <a:r>
              <a:rPr sz="1800" b="1">
                <a:solidFill>
                  <a:srgbClr val="142033"/>
                </a:solidFill>
              </a:rPr>
              <a:t>Why consume_in matters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2B719D-366E-47EE-B88E-8F5D42A1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496050"/>
            <a:ext cx="4953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142033"/>
                </a:solidFill>
              </a:defRPr>
            </a:pPr>
            <a:r>
              <a:rPr sz="1350">
                <a:solidFill>
                  <a:srgbClr val="142033"/>
                </a:solidFill>
              </a:rPr>
              <a:t>consume_in is the only signal that proves a source byte was truly consumed by the core.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C2DBD2-6332-4746-82D9-C0ED96C0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991350"/>
            <a:ext cx="4953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142033"/>
                </a:solidFill>
              </a:defRPr>
            </a:pPr>
            <a:r>
              <a:rPr sz="1350">
                <a:solidFill>
                  <a:srgbClr val="142033"/>
                </a:solidFill>
              </a:rPr>
              <a:t>Padding positions self-generate zp_in and therefore do not pop the input FIFO.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A71EEF-D8BA-42F2-B675-B54F0753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957888"/>
            <a:ext cx="5334000" cy="3252788"/>
          </a:xfrm>
          <a:prstGeom xmlns:a="http://schemas.openxmlformats.org/drawingml/2006/main" prst="roundRect">
            <a:avLst>
              <a:gd name="adj" fmla="val 3514"/>
            </a:avLst>
          </a:prstGeom>
          <a:solidFill xmlns:a="http://schemas.openxmlformats.org/drawingml/2006/main">
            <a:srgbClr val="D9F0EC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0B2BBD2-2AAC-4F67-8A76-C093510D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153150"/>
            <a:ext cx="495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033"/>
                </a:solidFill>
              </a:defRPr>
            </a:pPr>
            <a:r>
              <a:rPr sz="1800" b="1">
                <a:solidFill>
                  <a:srgbClr val="142033"/>
                </a:solidFill>
              </a:rPr>
              <a:t>Why valid_out is not enough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7BFDFC-6E9F-4212-B958-ACAF39DE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96050"/>
            <a:ext cx="495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142033"/>
                </a:solidFill>
              </a:defRPr>
            </a:pPr>
            <a:r>
              <a:rPr sz="1350">
                <a:solidFill>
                  <a:srgbClr val="142033"/>
                </a:solidFill>
              </a:rPr>
              <a:t>PPU valid_out only means the wrapper may push the output FIFO.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786025F-7B28-4CCC-93A8-D27D12E0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800850"/>
            <a:ext cx="4953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142033"/>
                </a:solidFill>
              </a:defRPr>
            </a:pPr>
            <a:r>
              <a:rPr sz="1350">
                <a:solidFill>
                  <a:srgbClr val="142033"/>
                </a:solidFill>
              </a:rPr>
              <a:t>If the DMA sink stalls, the final pixel can exist internally long before external completion is visible.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43B4FFB-B20D-4AF8-95AE-A28BDFB2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5957888"/>
            <a:ext cx="5334000" cy="3252788"/>
          </a:xfrm>
          <a:prstGeom xmlns:a="http://schemas.openxmlformats.org/drawingml/2006/main" prst="roundRect">
            <a:avLst>
              <a:gd name="adj" fmla="val 3514"/>
            </a:avLst>
          </a:prstGeom>
          <a:solidFill xmlns:a="http://schemas.openxmlformats.org/drawingml/2006/main">
            <a:srgbClr val="F6E3D1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F31FA73-926B-4A7A-A283-93970CFF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6153150"/>
            <a:ext cx="495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033"/>
                </a:solidFill>
              </a:defRPr>
            </a:pPr>
            <a:r>
              <a:rPr sz="1800" b="1">
                <a:solidFill>
                  <a:srgbClr val="142033"/>
                </a:solidFill>
              </a:rPr>
              <a:t>Why wrapper done_out is strong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5028A07-C56A-4C61-8871-55FC327B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6496050"/>
            <a:ext cx="495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142033"/>
                </a:solidFill>
              </a:defRPr>
            </a:pPr>
            <a:r>
              <a:rPr sz="1350">
                <a:solidFill>
                  <a:srgbClr val="142033"/>
                </a:solidFill>
              </a:rPr>
              <a:t>done_out = m_axis_tvalid &amp;&amp; m_axis_tready &amp;&amp; m_axis_tlast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ADFEC45-AA2B-4454-9879-2E1A7A2F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6800850"/>
            <a:ext cx="4953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142033"/>
                </a:solidFill>
              </a:defRPr>
            </a:pPr>
            <a:r>
              <a:rPr sz="1350">
                <a:solidFill>
                  <a:srgbClr val="142033"/>
                </a:solidFill>
              </a:rPr>
              <a:t>That definition means the module reports completion only after the outside world has actually accepted the last pixel.</a:t>
            </a:r>
          </a:p>
        </p:txBody>
      </p:sp>
      <p:sp>
        <p:nvSpPr>
          <p:cNvPr id="44" name="source">
            <a:extLst xmlns:a="http://schemas.openxmlformats.org/drawingml/2006/main">
              <a:ext uri="{FF2B5EF4-FFF2-40B4-BE49-F238E27FC236}">
                <a16:creationId xmlns:a16="http://schemas.microsoft.com/office/drawing/2014/main" id="{F7DC7064-1878-43EF-B058-F3027681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486900"/>
            <a:ext cx="165354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C6777"/>
                </a:solidFill>
              </a:defRPr>
            </a:pPr>
            <a:r>
              <a:rPr sz="975">
                <a:solidFill>
                  <a:srgbClr val="5C6777"/>
                </a:solidFill>
              </a:rPr>
              <a:t>Verified against dw_plane_run_axis.sv, compute_engine.sv, and line_buffer.sv: in_push, valid_in, consume_in, valid_out chain, TLAST tagging, and done_out semantics.</a:t>
            </a:r>
          </a:p>
        </p:txBody>
      </p:sp>
    </p:spTree>
    <p:extLst>
      <p:ext uri="{BB962C8B-B14F-4D97-AF65-F5344CB8AC3E}">
        <p14:creationId xmlns:p14="http://schemas.microsoft.com/office/powerpoint/2010/main" val="8782762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D46092-CBDD-4370-8354-7FAEB286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6"/>
          </a:solidFill>
          <a:ln xmlns:a="http://schemas.openxmlformats.org/drawingml/2006/main" w="0">
            <a:solidFill>
              <a:srgbClr val="F5F0E6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110DB0C-6649-481F-BA86-86532B07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85800"/>
            <a:ext cx="15087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033"/>
                </a:solidFill>
              </a:defRPr>
            </a:pPr>
            <a:r>
              <a:rPr sz="3600" b="1">
                <a:solidFill>
                  <a:srgbClr val="142033"/>
                </a:solidFill>
              </a:rPr>
              <a:t>Design critique and viva defense points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3FF31F7-69D9-4F6B-B0EC-A6CEB59D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38250"/>
            <a:ext cx="110299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>
                <a:solidFill>
                  <a:srgbClr val="5C6777"/>
                </a:solidFill>
              </a:defRPr>
            </a:pPr>
            <a:r>
              <a:rPr sz="1875">
                <a:solidFill>
                  <a:srgbClr val="5C6777"/>
                </a:solidFill>
              </a:rPr>
              <a:t>This slide turns the RTL into an engineering argument: what is already sound, where the bottlenecks are, and what tradeoffs the current implementation has accepted.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9BEE30-BE7B-4FAC-B724-4D32B596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8024" y="685800"/>
            <a:ext cx="1213676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E3D1"/>
          </a:solidFill>
          <a:ln xmlns:a="http://schemas.openxmlformats.org/drawingml/2006/main" w="0">
            <a:solidFill>
              <a:srgbClr val="F6E3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17C5C6-008E-456D-AE1C-CFD6560B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3950" y="781050"/>
            <a:ext cx="876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33"/>
                </a:solidFill>
              </a:defRPr>
            </a:pPr>
            <a:r>
              <a:rPr sz="1350" b="1">
                <a:solidFill>
                  <a:srgbClr val="142033"/>
                </a:solidFill>
              </a:rPr>
              <a:t>viva critique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C27DD3-1174-44C9-AC8C-C80CDA02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30398D-7D5F-4CE2-9572-1952149E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2188"/>
            <a:ext cx="53594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0">
            <a:solidFill>
              <a:srgbClr val="FFF9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7451BD-3E8D-441E-82AB-481D87F1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33650"/>
            <a:ext cx="48196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033"/>
                </a:solidFill>
              </a:defRPr>
            </a:pPr>
            <a:r>
              <a:rPr sz="3150" b="1">
                <a:solidFill>
                  <a:srgbClr val="142033"/>
                </a:solidFill>
              </a:rPr>
              <a:t>32 entries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C5C3BC-C663-416C-AECA-D19D8938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91000"/>
            <a:ext cx="4819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C6777"/>
                </a:solidFill>
              </a:defRPr>
            </a:pPr>
            <a:r>
              <a:rPr sz="1500">
                <a:solidFill>
                  <a:srgbClr val="5C6777"/>
                </a:solidFill>
              </a:rPr>
              <a:t>Throttle margin before output FIFO saturation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48342E-D4D3-4E00-A4FA-86A75A57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300" y="2262188"/>
            <a:ext cx="53594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D9F0EC"/>
          </a:solidFill>
          <a:ln xmlns:a="http://schemas.openxmlformats.org/drawingml/2006/main" w="0">
            <a:solidFill>
              <a:srgbClr val="D9F0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7AE8C9-702E-4BF8-954F-97E204FF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33650"/>
            <a:ext cx="48196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033"/>
                </a:solidFill>
              </a:defRPr>
            </a:pPr>
            <a:r>
              <a:rPr sz="3150" b="1">
                <a:solidFill>
                  <a:srgbClr val="142033"/>
                </a:solidFill>
              </a:rPr>
              <a:t>Core done != stream done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631FED-189E-469C-8520-29B46321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00500"/>
            <a:ext cx="4819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C6777"/>
                </a:solidFill>
              </a:defRPr>
            </a:pPr>
            <a:r>
              <a:rPr sz="1500">
                <a:solidFill>
                  <a:srgbClr val="5C6777"/>
                </a:solidFill>
              </a:rPr>
              <a:t>line_buffer completion is intentionally weaker than wrapper completion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12AD5B-C90A-437A-818E-DC7EFEB6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2300" y="2262188"/>
            <a:ext cx="53594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6E3D1"/>
          </a:solidFill>
          <a:ln xmlns:a="http://schemas.openxmlformats.org/drawingml/2006/main" w="0">
            <a:solidFill>
              <a:srgbClr val="F6E3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148D9D-0716-4F49-8834-4F2B3CF19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2533650"/>
            <a:ext cx="48196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033"/>
                </a:solidFill>
              </a:defRPr>
            </a:pPr>
            <a:r>
              <a:rPr sz="3150" b="1">
                <a:solidFill>
                  <a:srgbClr val="142033"/>
                </a:solidFill>
              </a:rPr>
              <a:t>~40-65 MHz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CC27AD-6D63-4664-AF19-54633E73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4000500"/>
            <a:ext cx="4819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C6777"/>
                </a:solidFill>
              </a:defRPr>
            </a:pPr>
            <a:r>
              <a:rPr sz="1500">
                <a:solidFill>
                  <a:srgbClr val="5C6777"/>
                </a:solidFill>
              </a:rPr>
              <a:t>Local estimate for current bottlenecked Fmax from existing analysis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944AE9-F6C9-4E49-B22A-3E62B365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0138"/>
            <a:ext cx="5334000" cy="4300538"/>
          </a:xfrm>
          <a:prstGeom xmlns:a="http://schemas.openxmlformats.org/drawingml/2006/main" prst="roundRect">
            <a:avLst>
              <a:gd name="adj" fmla="val 2658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DAAC3A-2B6F-4344-846E-C20733E2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05400"/>
            <a:ext cx="495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033"/>
                </a:solidFill>
              </a:defRPr>
            </a:pPr>
            <a:r>
              <a:rPr sz="1800" b="1">
                <a:solidFill>
                  <a:srgbClr val="142033"/>
                </a:solidFill>
              </a:rPr>
              <a:t>Strengths worth defending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C580BE-37FC-4FAC-99CD-CD5A925F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48300"/>
            <a:ext cx="4953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142033"/>
                </a:solidFill>
              </a:defRPr>
            </a:pPr>
            <a:r>
              <a:rPr sz="1350">
                <a:solidFill>
                  <a:srgbClr val="142033"/>
                </a:solidFill>
              </a:rPr>
              <a:t>Clear shell/core separation keeps stream semantics outside the arithmetic core.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A82F83-0720-4EDF-AC78-1F1D9A21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43600"/>
            <a:ext cx="495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142033"/>
                </a:solidFill>
              </a:defRPr>
            </a:pPr>
            <a:r>
              <a:rPr sz="1350">
                <a:solidFill>
                  <a:srgbClr val="142033"/>
                </a:solidFill>
              </a:rPr>
              <a:t>consume_in cleanly distinguishes padding from real pixel fetches.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750592-E994-4624-9E42-BBB45D97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229350"/>
            <a:ext cx="4953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142033"/>
                </a:solidFill>
              </a:defRPr>
            </a:pPr>
            <a:r>
              <a:rPr sz="1350">
                <a:solidFill>
                  <a:srgbClr val="142033"/>
                </a:solidFill>
              </a:rPr>
              <a:t>Top-level done_out is externally meaningful because it is acceptance-based.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D107E1-2E44-460D-B482-86C51232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0138"/>
            <a:ext cx="5334000" cy="4300538"/>
          </a:xfrm>
          <a:prstGeom xmlns:a="http://schemas.openxmlformats.org/drawingml/2006/main" prst="roundRect">
            <a:avLst>
              <a:gd name="adj" fmla="val 2658"/>
            </a:avLst>
          </a:prstGeom>
          <a:solidFill xmlns:a="http://schemas.openxmlformats.org/drawingml/2006/main">
            <a:srgbClr val="D9F0EC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9EE9E2-5AC0-4040-AF9C-89E15898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05400"/>
            <a:ext cx="495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033"/>
                </a:solidFill>
              </a:defRPr>
            </a:pPr>
            <a:r>
              <a:rPr sz="1800" b="1">
                <a:solidFill>
                  <a:srgbClr val="142033"/>
                </a:solidFill>
              </a:rPr>
              <a:t>Known limitations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997DE4-5CB4-49AE-AE37-1BF7B9E1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448300"/>
            <a:ext cx="4953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142033"/>
                </a:solidFill>
              </a:defRPr>
            </a:pPr>
            <a:r>
              <a:rPr sz="1350">
                <a:solidFill>
                  <a:srgbClr val="142033"/>
                </a:solidFill>
              </a:rPr>
              <a:t>The wrapper comment explicitly admits an approximate stride-2 output-size rule for the current network assumptions.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122D43-9D39-4259-B254-F875A8D0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943600"/>
            <a:ext cx="4953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142033"/>
                </a:solidFill>
              </a:defRPr>
            </a:pPr>
            <a:r>
              <a:rPr sz="1350">
                <a:solidFill>
                  <a:srgbClr val="142033"/>
                </a:solidFill>
              </a:rPr>
              <a:t>The compute_engine instance produces an internal core_done that the wrapper does not expose.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4B9132-BF4E-46F8-A60E-4241F1CC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19850"/>
            <a:ext cx="4953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142033"/>
                </a:solidFill>
              </a:defRPr>
            </a:pPr>
            <a:r>
              <a:rPr sz="1350">
                <a:solidFill>
                  <a:srgbClr val="142033"/>
                </a:solidFill>
              </a:rPr>
              <a:t>Throughput is likely limited by the PPU post-processing path rather than the wrapper FIFOs.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B8FDE5-AC1E-4A41-A373-594815DF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4910138"/>
            <a:ext cx="5334000" cy="4300538"/>
          </a:xfrm>
          <a:prstGeom xmlns:a="http://schemas.openxmlformats.org/drawingml/2006/main" prst="roundRect">
            <a:avLst>
              <a:gd name="adj" fmla="val 2658"/>
            </a:avLst>
          </a:prstGeom>
          <a:solidFill xmlns:a="http://schemas.openxmlformats.org/drawingml/2006/main">
            <a:srgbClr val="F6E3D1"/>
          </a:solidFill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A0C447-EA0D-40E5-BE7D-5F894DDF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5105400"/>
            <a:ext cx="495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033"/>
                </a:solidFill>
              </a:defRPr>
            </a:pPr>
            <a:r>
              <a:rPr sz="1800" b="1">
                <a:solidFill>
                  <a:srgbClr val="142033"/>
                </a:solidFill>
              </a:rPr>
              <a:t>Natural improvement path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8C308F-84F0-45E7-8F3F-8D794C64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5448300"/>
            <a:ext cx="495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142033"/>
                </a:solidFill>
              </a:defRPr>
            </a:pPr>
            <a:r>
              <a:rPr sz="1350">
                <a:solidFill>
                  <a:srgbClr val="142033"/>
                </a:solidFill>
              </a:rPr>
              <a:t>Pipeline the PPU further if timing becomes the dominant issue.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3F2F06-11CD-4CD0-9655-806C067B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5753100"/>
            <a:ext cx="4953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142033"/>
                </a:solidFill>
              </a:defRPr>
            </a:pPr>
            <a:r>
              <a:rPr sz="1350">
                <a:solidFill>
                  <a:srgbClr val="142033"/>
                </a:solidFill>
              </a:rPr>
              <a:t>Parameterize image-width limits instead of hard-wiring 2048 in line_buffer.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72ADD4-846E-42F8-8BD9-F61FE91D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6229350"/>
            <a:ext cx="4953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142033"/>
                </a:solidFill>
              </a:defRPr>
            </a:pPr>
            <a:r>
              <a:rPr sz="1350">
                <a:solidFill>
                  <a:srgbClr val="142033"/>
                </a:solidFill>
              </a:rPr>
              <a:t>If the system grows, make the wrapper's size formula exact and document the supported convolution cases.</a:t>
            </a:r>
          </a:p>
        </p:txBody>
      </p:sp>
      <p:sp>
        <p:nvSpPr>
          <p:cNvPr id="31" name="source">
            <a:extLst xmlns:a="http://schemas.openxmlformats.org/drawingml/2006/main">
              <a:ext uri="{FF2B5EF4-FFF2-40B4-BE49-F238E27FC236}">
                <a16:creationId xmlns:a16="http://schemas.microsoft.com/office/drawing/2014/main" id="{C7FD7953-24A4-4299-A5F4-49E29B14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486900"/>
            <a:ext cx="165354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C6777"/>
                </a:solidFill>
              </a:defRPr>
            </a:pPr>
            <a:r>
              <a:rPr sz="975">
                <a:solidFill>
                  <a:srgbClr val="5C6777"/>
                </a:solidFill>
              </a:rPr>
              <a:t>Critique points grounded in dw_plane_run_axis.sv and the existing compute_engine_analysis.md timing report.</a:t>
            </a:r>
          </a:p>
        </p:txBody>
      </p:sp>
    </p:spTree>
    <p:extLst>
      <p:ext uri="{BB962C8B-B14F-4D97-AF65-F5344CB8AC3E}">
        <p14:creationId xmlns:p14="http://schemas.microsoft.com/office/powerpoint/2010/main" val="9537544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2026-04-26T23:17:40.5830000Z</dcterms:created>
  <dcterms:modified xsi:type="dcterms:W3CDTF">2026-04-26T23:17:40.5830000Z</dcterms:modified>
</coreProperties>
</file>